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y="5143500" cx="9144000"/>
  <p:notesSz cx="6858000" cy="9144000"/>
  <p:embeddedFontLst>
    <p:embeddedFont>
      <p:font typeface="Roboto"/>
      <p:regular r:id="rId115"/>
      <p:bold r:id="rId116"/>
      <p:italic r:id="rId117"/>
      <p:boldItalic r:id="rId118"/>
    </p:embeddedFont>
    <p:embeddedFont>
      <p:font typeface="Montserrat"/>
      <p:regular r:id="rId119"/>
      <p:bold r:id="rId120"/>
      <p:italic r:id="rId121"/>
      <p:boldItalic r:id="rId122"/>
    </p:embeddedFont>
    <p:embeddedFont>
      <p:font typeface="Sarala"/>
      <p:regular r:id="rId123"/>
      <p:bold r:id="rId124"/>
    </p:embeddedFont>
    <p:embeddedFont>
      <p:font typeface="Comfortaa"/>
      <p:regular r:id="rId125"/>
      <p:bold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192BDC-307B-4A6C-AE54-A6D87EC0B91F}">
  <a:tblStyle styleId="{20192BDC-307B-4A6C-AE54-A6D87EC0B9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6" Type="http://schemas.openxmlformats.org/officeDocument/2006/relationships/font" Target="fonts/Comfortaa-bold.fntdata"/><Relationship Id="rId26" Type="http://schemas.openxmlformats.org/officeDocument/2006/relationships/slide" Target="slides/slide19.xml"/><Relationship Id="rId121" Type="http://schemas.openxmlformats.org/officeDocument/2006/relationships/font" Target="fonts/Montserrat-italic.fntdata"/><Relationship Id="rId25" Type="http://schemas.openxmlformats.org/officeDocument/2006/relationships/slide" Target="slides/slide18.xml"/><Relationship Id="rId120" Type="http://schemas.openxmlformats.org/officeDocument/2006/relationships/font" Target="fonts/Montserrat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font" Target="fonts/Comfortaa-regular.fntdata"/><Relationship Id="rId29" Type="http://schemas.openxmlformats.org/officeDocument/2006/relationships/slide" Target="slides/slide22.xml"/><Relationship Id="rId124" Type="http://schemas.openxmlformats.org/officeDocument/2006/relationships/font" Target="fonts/Sarala-bold.fntdata"/><Relationship Id="rId123" Type="http://schemas.openxmlformats.org/officeDocument/2006/relationships/font" Target="fonts/Sarala-regular.fntdata"/><Relationship Id="rId122" Type="http://schemas.openxmlformats.org/officeDocument/2006/relationships/font" Target="fonts/Montserrat-boldItalic.fntdata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font" Target="fonts/Roboto-boldItalic.fntdata"/><Relationship Id="rId117" Type="http://schemas.openxmlformats.org/officeDocument/2006/relationships/font" Target="fonts/Roboto-italic.fntdata"/><Relationship Id="rId116" Type="http://schemas.openxmlformats.org/officeDocument/2006/relationships/font" Target="fonts/Roboto-bold.fntdata"/><Relationship Id="rId115" Type="http://schemas.openxmlformats.org/officeDocument/2006/relationships/font" Target="fonts/Roboto-regular.fntdata"/><Relationship Id="rId119" Type="http://schemas.openxmlformats.org/officeDocument/2006/relationships/font" Target="fonts/Montserrat-regular.fntdata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d3a34824a_0_8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d3a34824a_0_8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f7ca8ae2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f7ca8ae2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fd528971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2fd52897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70896972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70896972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d0b18a0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d0b18a0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9461283c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9461283c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70896972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370896972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8f95c7205_3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8f95c7205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90aadadc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90aadad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90aadadc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90aadad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70896972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70896972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7089697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37089697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370896972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370896972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8411be5f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38411be5f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8411be5f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8411be5f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38411be5f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38411be5f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8411be5fd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38411be5f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d951c3b3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d951c3b3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90aadadc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90aadadc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90aadadc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90aadadc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390aadadc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390aadadc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40afb8b6f4_2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40afb8b6f4_2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40ec7ff12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40ec7ff1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4140a0045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4140a0045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40afb8b6f4_26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40afb8b6f4_2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40ec7ff12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40ec7ff12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40afb8b6f4_26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40afb8b6f4_26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40afb8b6f4_2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40afb8b6f4_2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3aca1d8e0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3aca1d8e0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3aca1d8e05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3aca1d8e0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0aadadc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390aadadc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40afb8b6f4_2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40afb8b6f4_2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370896972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370896972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37089697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37089697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af7ca8ae2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af7ca8ae2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af7ca8ae2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2af7ca8ae2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af7ca8ae2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2af7ca8ae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af7ca8ae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af7ca8ae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af7ca8ae2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af7ca8ae2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af7ca8ae28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af7ca8ae2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af7ca8ae28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af7ca8ae28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af7ca8ae28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af7ca8ae28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2d3a34824a_0_8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2d3a34824a_0_8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af7ca8ae28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af7ca8ae28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2dbbc7d56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2dbbc7d56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2dbbc7d56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2dbbc7d5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390aadadc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390aadadc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40ec7ff12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40ec7ff12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40ec7ff1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40ec7ff1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393e8ff59e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393e8ff59e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3a526175e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3a526175e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393e8ff59e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393e8ff59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2f60291fc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2f60291fc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2f60291fc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2f60291fc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2f60291fc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2f60291fc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2f60291fc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2f60291fc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38411be5f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38411be5f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38411be5f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38411be5f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39a44bc634_18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39a44bc634_18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39a44bc634_18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39a44bc634_18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38411be5f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38411be5f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40885ec8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40885ec8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40885ec8d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40885ec8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40885ec8d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40885ec8d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d9461283c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d9461283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d9461283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d9461283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350ceafef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350ceafef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350ceafef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350ceafef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350ceafef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350ceafef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350ceafef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350ceafef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350ceafef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350ceafe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350ceafef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3350ceafef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350ceafef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3350ceafef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350ceafef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350ceafef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390aadadc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390aadadc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d9461283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d9461283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393e8ff59e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393e8ff59e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39a44bc634_1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39a44bc634_1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39a44bc634_18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339a44bc634_18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d9461283c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d9461283c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d9461283c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d9461283c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d9461283c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d9461283c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38411be5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338411be5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38411be5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38411be5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38411be5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38411be5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338411be5f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338411be5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38411be5f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338411be5f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38411be5f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38411be5f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2fd52897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32fd52897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390aadadc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390aadadc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390aadadc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390aadadc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393e8ff59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3393e8ff59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390aadadc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390aadadc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390aadadc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390aadadc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390aadadc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3390aadadc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390aadadc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3390aadadc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390aadadc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390aadadc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393e8ff59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393e8ff59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33c8d3f81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33c8d3f81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3c8d3f81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33c8d3f81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2d3a34824a_0_8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32d3a34824a_0_8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393e8ff59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3393e8ff59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d9461283c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d9461283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38411be5f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338411be5f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38411be5f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38411be5f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38411be5f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38411be5f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d9461283c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d9461283c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s://www.freepik.com/home" TargetMode="External"/><Relationship Id="rId5" Type="http://schemas.openxmlformats.org/officeDocument/2006/relationships/hyperlink" Target="https://stories.freep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600663" y="3049987"/>
            <a:ext cx="37710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570800" y="980253"/>
            <a:ext cx="3720000" cy="22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Font typeface="Sarala"/>
              <a:buNone/>
              <a:defRPr sz="5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125" y="4063975"/>
            <a:ext cx="2175600" cy="7236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713225" y="0"/>
            <a:ext cx="41784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rgbClr val="FF72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853800" y="4787100"/>
            <a:ext cx="22905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4573925" y="350"/>
            <a:ext cx="4570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836250" y="2931900"/>
            <a:ext cx="40353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3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hasCustomPrompt="1" idx="2" type="title"/>
          </p:nvPr>
        </p:nvSpPr>
        <p:spPr>
          <a:xfrm>
            <a:off x="5786125" y="956698"/>
            <a:ext cx="2135400" cy="19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5277425" y="3594000"/>
            <a:ext cx="3152700" cy="5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" name="Google Shape;67;p15"/>
          <p:cNvSpPr/>
          <p:nvPr/>
        </p:nvSpPr>
        <p:spPr>
          <a:xfrm>
            <a:off x="-10850" y="-5125"/>
            <a:ext cx="724200" cy="72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853800" y="4776850"/>
            <a:ext cx="2300400" cy="36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-10850" y="4776850"/>
            <a:ext cx="724200" cy="3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11275" y="1423030"/>
            <a:ext cx="79215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"/>
              <a:buChar char="●"/>
              <a:defRPr sz="11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200"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200"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200"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200"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200"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200"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200"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555555"/>
              </a:buClr>
              <a:buSzPts val="1400"/>
              <a:buFont typeface="Lato"/>
              <a:buChar char="■"/>
              <a:defRPr sz="1200"/>
            </a:lvl9pPr>
          </a:lstStyle>
          <a:p/>
        </p:txBody>
      </p:sp>
      <p:sp>
        <p:nvSpPr>
          <p:cNvPr id="72" name="Google Shape;72;p16"/>
          <p:cNvSpPr/>
          <p:nvPr/>
        </p:nvSpPr>
        <p:spPr>
          <a:xfrm>
            <a:off x="0" y="0"/>
            <a:ext cx="713100" cy="72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0" y="4807300"/>
            <a:ext cx="9144000" cy="3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8430900" y="719350"/>
            <a:ext cx="7131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06475" y="2293394"/>
            <a:ext cx="3365400" cy="23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5172150" y="2007458"/>
            <a:ext cx="3365400" cy="25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0" name="Google Shape;80;p17"/>
          <p:cNvSpPr/>
          <p:nvPr/>
        </p:nvSpPr>
        <p:spPr>
          <a:xfrm>
            <a:off x="0" y="0"/>
            <a:ext cx="713100" cy="35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8430750" y="4419900"/>
            <a:ext cx="7131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4" name="Google Shape;84;p18"/>
          <p:cNvSpPr/>
          <p:nvPr/>
        </p:nvSpPr>
        <p:spPr>
          <a:xfrm>
            <a:off x="5575" y="4771375"/>
            <a:ext cx="9144000" cy="3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5575" y="-5125"/>
            <a:ext cx="707700" cy="3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8435650" y="-5125"/>
            <a:ext cx="707700" cy="72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6853800" y="0"/>
            <a:ext cx="22902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9"/>
          <p:cNvSpPr txBox="1"/>
          <p:nvPr>
            <p:ph type="title"/>
          </p:nvPr>
        </p:nvSpPr>
        <p:spPr>
          <a:xfrm>
            <a:off x="609947" y="564207"/>
            <a:ext cx="2460000" cy="11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609958" y="1659000"/>
            <a:ext cx="2290200" cy="18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713225" y="4776850"/>
            <a:ext cx="6140700" cy="3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0" y="4050475"/>
            <a:ext cx="713100" cy="3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5354250" y="533873"/>
            <a:ext cx="2999100" cy="221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5" name="Google Shape;95;p20"/>
          <p:cNvSpPr/>
          <p:nvPr/>
        </p:nvSpPr>
        <p:spPr>
          <a:xfrm>
            <a:off x="0" y="0"/>
            <a:ext cx="7131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6853800" y="3696300"/>
            <a:ext cx="22902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490000" y="1977597"/>
            <a:ext cx="26865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599000" y="553250"/>
            <a:ext cx="2733300" cy="11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21"/>
          <p:cNvSpPr/>
          <p:nvPr/>
        </p:nvSpPr>
        <p:spPr>
          <a:xfrm>
            <a:off x="11050" y="4424050"/>
            <a:ext cx="2279400" cy="71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/>
          <p:nvPr/>
        </p:nvSpPr>
        <p:spPr>
          <a:xfrm>
            <a:off x="8430775" y="4419900"/>
            <a:ext cx="713100" cy="71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4" name="Google Shape;104;p22"/>
          <p:cNvSpPr/>
          <p:nvPr/>
        </p:nvSpPr>
        <p:spPr>
          <a:xfrm>
            <a:off x="2290350" y="2212200"/>
            <a:ext cx="4563600" cy="719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-8425" y="2212200"/>
            <a:ext cx="721500" cy="71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2"/>
          <p:cNvSpPr/>
          <p:nvPr/>
        </p:nvSpPr>
        <p:spPr>
          <a:xfrm>
            <a:off x="8428075" y="2212200"/>
            <a:ext cx="721500" cy="71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1946840" y="1774892"/>
            <a:ext cx="6619800" cy="14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1900825" y="3105792"/>
            <a:ext cx="66198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4572000" y="-10600"/>
            <a:ext cx="4572000" cy="729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3"/>
          <p:cNvSpPr/>
          <p:nvPr/>
        </p:nvSpPr>
        <p:spPr>
          <a:xfrm>
            <a:off x="4572000" y="4415325"/>
            <a:ext cx="4572000" cy="729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/>
          <p:nvPr/>
        </p:nvSpPr>
        <p:spPr>
          <a:xfrm>
            <a:off x="6853800" y="4807300"/>
            <a:ext cx="2290200" cy="3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0" y="1756525"/>
            <a:ext cx="9144000" cy="337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5"/>
          <p:cNvSpPr txBox="1"/>
          <p:nvPr>
            <p:ph type="title"/>
          </p:nvPr>
        </p:nvSpPr>
        <p:spPr>
          <a:xfrm>
            <a:off x="661250" y="2573524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661250" y="2897968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25"/>
          <p:cNvSpPr txBox="1"/>
          <p:nvPr>
            <p:ph hasCustomPrompt="1" idx="2" type="title"/>
          </p:nvPr>
        </p:nvSpPr>
        <p:spPr>
          <a:xfrm>
            <a:off x="970850" y="2239374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5"/>
          <p:cNvSpPr txBox="1"/>
          <p:nvPr>
            <p:ph idx="3" type="title"/>
          </p:nvPr>
        </p:nvSpPr>
        <p:spPr>
          <a:xfrm>
            <a:off x="3371700" y="2573524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0" name="Google Shape;120;p25"/>
          <p:cNvSpPr txBox="1"/>
          <p:nvPr>
            <p:ph idx="4" type="subTitle"/>
          </p:nvPr>
        </p:nvSpPr>
        <p:spPr>
          <a:xfrm>
            <a:off x="3371700" y="2897968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1" name="Google Shape;121;p25"/>
          <p:cNvSpPr txBox="1"/>
          <p:nvPr>
            <p:ph hasCustomPrompt="1" idx="5" type="title"/>
          </p:nvPr>
        </p:nvSpPr>
        <p:spPr>
          <a:xfrm>
            <a:off x="3681300" y="2239374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5"/>
          <p:cNvSpPr txBox="1"/>
          <p:nvPr>
            <p:ph idx="6" type="title"/>
          </p:nvPr>
        </p:nvSpPr>
        <p:spPr>
          <a:xfrm>
            <a:off x="6082150" y="2573524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3" name="Google Shape;123;p25"/>
          <p:cNvSpPr txBox="1"/>
          <p:nvPr>
            <p:ph idx="7" type="subTitle"/>
          </p:nvPr>
        </p:nvSpPr>
        <p:spPr>
          <a:xfrm>
            <a:off x="6082150" y="2897968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25"/>
          <p:cNvSpPr txBox="1"/>
          <p:nvPr>
            <p:ph hasCustomPrompt="1" idx="8" type="title"/>
          </p:nvPr>
        </p:nvSpPr>
        <p:spPr>
          <a:xfrm>
            <a:off x="6391750" y="2239374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25"/>
          <p:cNvSpPr txBox="1"/>
          <p:nvPr>
            <p:ph idx="9" type="title"/>
          </p:nvPr>
        </p:nvSpPr>
        <p:spPr>
          <a:xfrm>
            <a:off x="661250" y="3836962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25"/>
          <p:cNvSpPr txBox="1"/>
          <p:nvPr>
            <p:ph idx="13" type="subTitle"/>
          </p:nvPr>
        </p:nvSpPr>
        <p:spPr>
          <a:xfrm>
            <a:off x="661250" y="4161414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5"/>
          <p:cNvSpPr txBox="1"/>
          <p:nvPr>
            <p:ph hasCustomPrompt="1" idx="14" type="title"/>
          </p:nvPr>
        </p:nvSpPr>
        <p:spPr>
          <a:xfrm>
            <a:off x="970850" y="3502812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25"/>
          <p:cNvSpPr txBox="1"/>
          <p:nvPr>
            <p:ph idx="15" type="title"/>
          </p:nvPr>
        </p:nvSpPr>
        <p:spPr>
          <a:xfrm>
            <a:off x="3371700" y="3836962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9" name="Google Shape;129;p25"/>
          <p:cNvSpPr txBox="1"/>
          <p:nvPr>
            <p:ph idx="16" type="subTitle"/>
          </p:nvPr>
        </p:nvSpPr>
        <p:spPr>
          <a:xfrm>
            <a:off x="3371700" y="4161414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hasCustomPrompt="1" idx="17" type="title"/>
          </p:nvPr>
        </p:nvSpPr>
        <p:spPr>
          <a:xfrm>
            <a:off x="3681300" y="3502812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25"/>
          <p:cNvSpPr txBox="1"/>
          <p:nvPr>
            <p:ph idx="18" type="title"/>
          </p:nvPr>
        </p:nvSpPr>
        <p:spPr>
          <a:xfrm>
            <a:off x="6082150" y="3836962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2" name="Google Shape;132;p25"/>
          <p:cNvSpPr txBox="1"/>
          <p:nvPr>
            <p:ph idx="19" type="subTitle"/>
          </p:nvPr>
        </p:nvSpPr>
        <p:spPr>
          <a:xfrm>
            <a:off x="6082150" y="4161414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5"/>
          <p:cNvSpPr txBox="1"/>
          <p:nvPr>
            <p:ph hasCustomPrompt="1" idx="20" type="title"/>
          </p:nvPr>
        </p:nvSpPr>
        <p:spPr>
          <a:xfrm>
            <a:off x="6391750" y="3502812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5"/>
          <p:cNvSpPr txBox="1"/>
          <p:nvPr>
            <p:ph idx="21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35" name="Google Shape;135;p25"/>
          <p:cNvSpPr/>
          <p:nvPr/>
        </p:nvSpPr>
        <p:spPr>
          <a:xfrm>
            <a:off x="8784650" y="0"/>
            <a:ext cx="3591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>
            <a:off x="0" y="1603600"/>
            <a:ext cx="7131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SECTION_TITLE_AND_DESCRIPTION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813650" y="2961130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813650" y="3280291"/>
            <a:ext cx="24006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26"/>
          <p:cNvSpPr txBox="1"/>
          <p:nvPr>
            <p:ph idx="2" type="title"/>
          </p:nvPr>
        </p:nvSpPr>
        <p:spPr>
          <a:xfrm>
            <a:off x="3371700" y="2961130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26"/>
          <p:cNvSpPr txBox="1"/>
          <p:nvPr>
            <p:ph idx="3" type="subTitle"/>
          </p:nvPr>
        </p:nvSpPr>
        <p:spPr>
          <a:xfrm>
            <a:off x="3371700" y="3280291"/>
            <a:ext cx="24006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26"/>
          <p:cNvSpPr txBox="1"/>
          <p:nvPr>
            <p:ph idx="4" type="title"/>
          </p:nvPr>
        </p:nvSpPr>
        <p:spPr>
          <a:xfrm>
            <a:off x="5929750" y="2961130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6"/>
          <p:cNvSpPr txBox="1"/>
          <p:nvPr>
            <p:ph idx="5" type="subTitle"/>
          </p:nvPr>
        </p:nvSpPr>
        <p:spPr>
          <a:xfrm>
            <a:off x="5929750" y="3280291"/>
            <a:ext cx="24006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26"/>
          <p:cNvSpPr/>
          <p:nvPr/>
        </p:nvSpPr>
        <p:spPr>
          <a:xfrm>
            <a:off x="0" y="4419900"/>
            <a:ext cx="91440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6" name="Google Shape;146;p26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rgbClr val="FF72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_1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/>
          <p:nvPr/>
        </p:nvSpPr>
        <p:spPr>
          <a:xfrm>
            <a:off x="712175" y="3051975"/>
            <a:ext cx="7730400" cy="35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5300" y="0"/>
            <a:ext cx="9144000" cy="71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5300" y="4416875"/>
            <a:ext cx="9144000" cy="76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type="title"/>
          </p:nvPr>
        </p:nvSpPr>
        <p:spPr>
          <a:xfrm>
            <a:off x="3277050" y="3007434"/>
            <a:ext cx="25899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1551975" y="1688475"/>
            <a:ext cx="60402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3" name="Google Shape;153;p27"/>
          <p:cNvSpPr/>
          <p:nvPr/>
        </p:nvSpPr>
        <p:spPr>
          <a:xfrm>
            <a:off x="7592175" y="4775700"/>
            <a:ext cx="1557000" cy="36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5300" y="541150"/>
            <a:ext cx="706800" cy="35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of text 1">
  <p:cSld name="TITLE_ONLY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4470525" y="3701400"/>
            <a:ext cx="4673400" cy="9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5111875" y="0"/>
            <a:ext cx="4032000" cy="42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5462775" y="1331400"/>
            <a:ext cx="2320800" cy="12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59" name="Google Shape;159;p28"/>
          <p:cNvSpPr txBox="1"/>
          <p:nvPr>
            <p:ph idx="1" type="subTitle"/>
          </p:nvPr>
        </p:nvSpPr>
        <p:spPr>
          <a:xfrm>
            <a:off x="5449675" y="2549700"/>
            <a:ext cx="2346900" cy="12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/>
          <p:nvPr/>
        </p:nvSpPr>
        <p:spPr>
          <a:xfrm>
            <a:off x="0" y="0"/>
            <a:ext cx="713100" cy="7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/>
          <p:nvPr/>
        </p:nvSpPr>
        <p:spPr>
          <a:xfrm>
            <a:off x="0" y="4786500"/>
            <a:ext cx="1491900" cy="35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of text 2">
  <p:cSld name="TITLE_ONLY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 flipH="1">
            <a:off x="0" y="3701400"/>
            <a:ext cx="4518600" cy="9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 flipH="1">
            <a:off x="50" y="0"/>
            <a:ext cx="4032000" cy="42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 flipH="1">
            <a:off x="8430825" y="0"/>
            <a:ext cx="713100" cy="7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/>
          <p:nvPr/>
        </p:nvSpPr>
        <p:spPr>
          <a:xfrm flipH="1">
            <a:off x="7652025" y="4786500"/>
            <a:ext cx="1491900" cy="35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type="title"/>
          </p:nvPr>
        </p:nvSpPr>
        <p:spPr>
          <a:xfrm>
            <a:off x="1312150" y="1331500"/>
            <a:ext cx="2417400" cy="12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68" name="Google Shape;168;p29"/>
          <p:cNvSpPr txBox="1"/>
          <p:nvPr>
            <p:ph idx="1" type="subTitle"/>
          </p:nvPr>
        </p:nvSpPr>
        <p:spPr>
          <a:xfrm>
            <a:off x="1332300" y="2549613"/>
            <a:ext cx="2376900" cy="12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_1_2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/>
          <p:nvPr/>
        </p:nvSpPr>
        <p:spPr>
          <a:xfrm>
            <a:off x="712550" y="2307375"/>
            <a:ext cx="3141300" cy="28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/>
          <p:nvPr/>
        </p:nvSpPr>
        <p:spPr>
          <a:xfrm>
            <a:off x="5289448" y="2307375"/>
            <a:ext cx="3141300" cy="28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0"/>
          <p:cNvSpPr txBox="1"/>
          <p:nvPr>
            <p:ph type="title"/>
          </p:nvPr>
        </p:nvSpPr>
        <p:spPr>
          <a:xfrm>
            <a:off x="1082306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30"/>
          <p:cNvSpPr txBox="1"/>
          <p:nvPr>
            <p:ph idx="1" type="subTitle"/>
          </p:nvPr>
        </p:nvSpPr>
        <p:spPr>
          <a:xfrm>
            <a:off x="1082306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30"/>
          <p:cNvSpPr txBox="1"/>
          <p:nvPr>
            <p:ph idx="2" type="title"/>
          </p:nvPr>
        </p:nvSpPr>
        <p:spPr>
          <a:xfrm>
            <a:off x="5653500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3" type="subTitle"/>
          </p:nvPr>
        </p:nvSpPr>
        <p:spPr>
          <a:xfrm>
            <a:off x="5653500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0"/>
          <p:cNvSpPr txBox="1"/>
          <p:nvPr>
            <p:ph idx="4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7" name="Google Shape;177;p30"/>
          <p:cNvSpPr/>
          <p:nvPr/>
        </p:nvSpPr>
        <p:spPr>
          <a:xfrm>
            <a:off x="0" y="4772325"/>
            <a:ext cx="9144000" cy="3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/>
          <p:nvPr/>
        </p:nvSpPr>
        <p:spPr>
          <a:xfrm flipH="1">
            <a:off x="8433163" y="0"/>
            <a:ext cx="707700" cy="3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 flipH="1">
            <a:off x="3088" y="0"/>
            <a:ext cx="707700" cy="72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">
  <p:cSld name="SECTION_TITLE_AND_DESCRIPTION_1_1_3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923550" y="2104063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2" name="Google Shape;182;p31"/>
          <p:cNvSpPr txBox="1"/>
          <p:nvPr>
            <p:ph idx="1" type="subTitle"/>
          </p:nvPr>
        </p:nvSpPr>
        <p:spPr>
          <a:xfrm>
            <a:off x="923550" y="2475136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" name="Google Shape;183;p31"/>
          <p:cNvSpPr txBox="1"/>
          <p:nvPr>
            <p:ph idx="2" type="title"/>
          </p:nvPr>
        </p:nvSpPr>
        <p:spPr>
          <a:xfrm>
            <a:off x="923550" y="3506341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31"/>
          <p:cNvSpPr txBox="1"/>
          <p:nvPr>
            <p:ph idx="3" type="subTitle"/>
          </p:nvPr>
        </p:nvSpPr>
        <p:spPr>
          <a:xfrm>
            <a:off x="923550" y="3877413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" name="Google Shape;185;p31"/>
          <p:cNvSpPr txBox="1"/>
          <p:nvPr>
            <p:ph idx="4" type="title"/>
          </p:nvPr>
        </p:nvSpPr>
        <p:spPr>
          <a:xfrm>
            <a:off x="6029625" y="2104063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31"/>
          <p:cNvSpPr txBox="1"/>
          <p:nvPr>
            <p:ph idx="5" type="subTitle"/>
          </p:nvPr>
        </p:nvSpPr>
        <p:spPr>
          <a:xfrm>
            <a:off x="6029625" y="2475137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" name="Google Shape;187;p31"/>
          <p:cNvSpPr txBox="1"/>
          <p:nvPr>
            <p:ph idx="6" type="title"/>
          </p:nvPr>
        </p:nvSpPr>
        <p:spPr>
          <a:xfrm>
            <a:off x="6029625" y="3506343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31"/>
          <p:cNvSpPr txBox="1"/>
          <p:nvPr>
            <p:ph idx="7" type="subTitle"/>
          </p:nvPr>
        </p:nvSpPr>
        <p:spPr>
          <a:xfrm>
            <a:off x="6029625" y="3877414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31"/>
          <p:cNvSpPr txBox="1"/>
          <p:nvPr>
            <p:ph idx="8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90" name="Google Shape;190;p31"/>
          <p:cNvSpPr/>
          <p:nvPr/>
        </p:nvSpPr>
        <p:spPr>
          <a:xfrm>
            <a:off x="5575" y="-5125"/>
            <a:ext cx="707700" cy="145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/>
          <p:nvPr/>
        </p:nvSpPr>
        <p:spPr>
          <a:xfrm>
            <a:off x="8435675" y="719350"/>
            <a:ext cx="707700" cy="145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/>
          <p:nvPr/>
        </p:nvSpPr>
        <p:spPr>
          <a:xfrm>
            <a:off x="5575" y="4783500"/>
            <a:ext cx="7077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1">
  <p:cSld name="SECTION_TITLE_AND_DESCRIPTION_1_1_4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/>
          <p:nvPr/>
        </p:nvSpPr>
        <p:spPr>
          <a:xfrm>
            <a:off x="0" y="4776850"/>
            <a:ext cx="9144000" cy="36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SECTION_TITLE_AND_DESCRIPTION_1_1_4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/>
          <p:nvPr/>
        </p:nvSpPr>
        <p:spPr>
          <a:xfrm>
            <a:off x="0" y="719350"/>
            <a:ext cx="713100" cy="441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8430775" y="2571750"/>
            <a:ext cx="713100" cy="25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8430775" y="-1600"/>
            <a:ext cx="713100" cy="7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3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SECTION_TITLE_AND_DESCRIPTION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5300" y="2162570"/>
            <a:ext cx="9133500" cy="4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/>
          <p:nvPr/>
        </p:nvSpPr>
        <p:spPr>
          <a:xfrm>
            <a:off x="5300" y="3502195"/>
            <a:ext cx="91335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4"/>
          <p:cNvSpPr/>
          <p:nvPr/>
        </p:nvSpPr>
        <p:spPr>
          <a:xfrm>
            <a:off x="5300" y="0"/>
            <a:ext cx="9133500" cy="175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4"/>
          <p:cNvSpPr txBox="1"/>
          <p:nvPr>
            <p:ph type="title"/>
          </p:nvPr>
        </p:nvSpPr>
        <p:spPr>
          <a:xfrm>
            <a:off x="986300" y="2162570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6" name="Google Shape;206;p34"/>
          <p:cNvSpPr txBox="1"/>
          <p:nvPr>
            <p:ph idx="1" type="subTitle"/>
          </p:nvPr>
        </p:nvSpPr>
        <p:spPr>
          <a:xfrm>
            <a:off x="813650" y="2609843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7" name="Google Shape;207;p34"/>
          <p:cNvSpPr txBox="1"/>
          <p:nvPr>
            <p:ph idx="2" type="title"/>
          </p:nvPr>
        </p:nvSpPr>
        <p:spPr>
          <a:xfrm>
            <a:off x="3544350" y="2162570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8" name="Google Shape;208;p34"/>
          <p:cNvSpPr txBox="1"/>
          <p:nvPr>
            <p:ph idx="3" type="subTitle"/>
          </p:nvPr>
        </p:nvSpPr>
        <p:spPr>
          <a:xfrm>
            <a:off x="3371700" y="2609843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9" name="Google Shape;209;p34"/>
          <p:cNvSpPr txBox="1"/>
          <p:nvPr>
            <p:ph idx="4" type="title"/>
          </p:nvPr>
        </p:nvSpPr>
        <p:spPr>
          <a:xfrm>
            <a:off x="6102400" y="2162570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" name="Google Shape;210;p34"/>
          <p:cNvSpPr txBox="1"/>
          <p:nvPr>
            <p:ph idx="5" type="subTitle"/>
          </p:nvPr>
        </p:nvSpPr>
        <p:spPr>
          <a:xfrm>
            <a:off x="5929750" y="2609843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1" name="Google Shape;211;p34"/>
          <p:cNvSpPr txBox="1"/>
          <p:nvPr>
            <p:ph idx="6" type="title"/>
          </p:nvPr>
        </p:nvSpPr>
        <p:spPr>
          <a:xfrm>
            <a:off x="986300" y="3502195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2" name="Google Shape;212;p34"/>
          <p:cNvSpPr txBox="1"/>
          <p:nvPr>
            <p:ph idx="7" type="subTitle"/>
          </p:nvPr>
        </p:nvSpPr>
        <p:spPr>
          <a:xfrm>
            <a:off x="813650" y="3949481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3" name="Google Shape;213;p34"/>
          <p:cNvSpPr txBox="1"/>
          <p:nvPr>
            <p:ph idx="8" type="title"/>
          </p:nvPr>
        </p:nvSpPr>
        <p:spPr>
          <a:xfrm>
            <a:off x="3544350" y="3502195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4" name="Google Shape;214;p34"/>
          <p:cNvSpPr txBox="1"/>
          <p:nvPr>
            <p:ph idx="9" type="subTitle"/>
          </p:nvPr>
        </p:nvSpPr>
        <p:spPr>
          <a:xfrm>
            <a:off x="3371700" y="3949481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5" name="Google Shape;215;p34"/>
          <p:cNvSpPr txBox="1"/>
          <p:nvPr>
            <p:ph idx="13" type="title"/>
          </p:nvPr>
        </p:nvSpPr>
        <p:spPr>
          <a:xfrm>
            <a:off x="6102400" y="3502195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34"/>
          <p:cNvSpPr txBox="1"/>
          <p:nvPr>
            <p:ph idx="14" type="subTitle"/>
          </p:nvPr>
        </p:nvSpPr>
        <p:spPr>
          <a:xfrm>
            <a:off x="5929750" y="3949481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7" name="Google Shape;217;p34"/>
          <p:cNvSpPr txBox="1"/>
          <p:nvPr>
            <p:ph idx="15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18" name="Google Shape;218;p34"/>
          <p:cNvSpPr/>
          <p:nvPr/>
        </p:nvSpPr>
        <p:spPr>
          <a:xfrm>
            <a:off x="7926175" y="0"/>
            <a:ext cx="1217700" cy="36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/>
          <p:nvPr/>
        </p:nvSpPr>
        <p:spPr>
          <a:xfrm>
            <a:off x="0" y="1028700"/>
            <a:ext cx="713100" cy="36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TITLE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/>
          <p:nvPr/>
        </p:nvSpPr>
        <p:spPr>
          <a:xfrm>
            <a:off x="0" y="0"/>
            <a:ext cx="388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type="ctrTitle"/>
          </p:nvPr>
        </p:nvSpPr>
        <p:spPr>
          <a:xfrm>
            <a:off x="592425" y="594400"/>
            <a:ext cx="2691300" cy="13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Work Sans ExtraBold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3" name="Google Shape;223;p35"/>
          <p:cNvSpPr txBox="1"/>
          <p:nvPr>
            <p:ph idx="1" type="subTitle"/>
          </p:nvPr>
        </p:nvSpPr>
        <p:spPr>
          <a:xfrm>
            <a:off x="592423" y="1908225"/>
            <a:ext cx="2691300" cy="10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4" name="Google Shape;224;p35"/>
          <p:cNvSpPr txBox="1"/>
          <p:nvPr/>
        </p:nvSpPr>
        <p:spPr>
          <a:xfrm>
            <a:off x="602175" y="3532850"/>
            <a:ext cx="26913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5" name="Google Shape;225;p35"/>
          <p:cNvGrpSpPr/>
          <p:nvPr/>
        </p:nvGrpSpPr>
        <p:grpSpPr>
          <a:xfrm>
            <a:off x="0" y="0"/>
            <a:ext cx="9143975" cy="5143500"/>
            <a:chOff x="0" y="0"/>
            <a:chExt cx="9143975" cy="5143500"/>
          </a:xfrm>
        </p:grpSpPr>
        <p:sp>
          <p:nvSpPr>
            <p:cNvPr id="226" name="Google Shape;226;p35"/>
            <p:cNvSpPr/>
            <p:nvPr/>
          </p:nvSpPr>
          <p:spPr>
            <a:xfrm>
              <a:off x="3538075" y="0"/>
              <a:ext cx="3315900" cy="71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5"/>
            <p:cNvSpPr/>
            <p:nvPr/>
          </p:nvSpPr>
          <p:spPr>
            <a:xfrm>
              <a:off x="8430775" y="0"/>
              <a:ext cx="713100" cy="35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0" y="4787100"/>
              <a:ext cx="713100" cy="35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7791875" y="4787100"/>
              <a:ext cx="1352100" cy="35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/>
            <p:nvPr/>
          </p:nvSpPr>
          <p:spPr>
            <a:xfrm>
              <a:off x="3887725" y="1075800"/>
              <a:ext cx="2293200" cy="35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rala"/>
              <a:buNone/>
              <a:defRPr b="1" sz="3500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hyperlink" Target="https://spin0r.wordpress.com/2014/11/21/kr-c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odbolt.org/z/7qKxeYWYP" TargetMode="External"/><Relationship Id="rId4" Type="http://schemas.openxmlformats.org/officeDocument/2006/relationships/hyperlink" Target="https://github.com/AnthonyCalandra/modern-c-features" TargetMode="External"/><Relationship Id="rId5" Type="http://schemas.openxmlformats.org/officeDocument/2006/relationships/hyperlink" Target="https://www.ibm.com/docs/en/ssw_ibm_i_75/pdf/sc097852.pdf" TargetMode="External"/><Relationship Id="rId6" Type="http://schemas.openxmlformats.org/officeDocument/2006/relationships/hyperlink" Target="https://www.ibm.com/docs/en/ssw_ibm_i_75/pdf/sc097852.pdf" TargetMode="External"/><Relationship Id="rId7" Type="http://schemas.openxmlformats.org/officeDocument/2006/relationships/hyperlink" Target="https://www.ibm.com/docs/en/ssw_ibm_i_75/pdf/sc097852.pdf" TargetMode="External"/><Relationship Id="rId8" Type="http://schemas.openxmlformats.org/officeDocument/2006/relationships/hyperlink" Target="https://www.ibm.com/docs/en/ssw_ibm_i_75/pdf/sc097852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38.png"/><Relationship Id="rId5" Type="http://schemas.openxmlformats.org/officeDocument/2006/relationships/hyperlink" Target="https://en.cppreference.com/w/cpp/language/string_literal" TargetMode="External"/><Relationship Id="rId6" Type="http://schemas.openxmlformats.org/officeDocument/2006/relationships/hyperlink" Target="https://en.cppreference.com/w/cpp/language/string_litera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hyperlink" Target="https://godbolt.org/z/4ax6TMPE8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hyperlink" Target="https://godbolt.org/z/jcErq3T3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odbolt.org/z/vc5oYa36Y" TargetMode="External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hyperlink" Target="https://stackoverflow.com/questions/745870/realistic-usage-of-the-c99-restrict-keyword" TargetMode="External"/><Relationship Id="rId5" Type="http://schemas.openxmlformats.org/officeDocument/2006/relationships/hyperlink" Target="https://en.wikipedia.org/wiki/Restric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hyperlink" Target="https://en.cppreference.com/w/c/language/object#Alignment" TargetMode="External"/><Relationship Id="rId5" Type="http://schemas.openxmlformats.org/officeDocument/2006/relationships/hyperlink" Target="https://github.com/Chi-Iroh/Lets-Talk-About-C-Quirks/blob/main/fr/doc/alignement_en_m%C3%A9moire.m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hyperlink" Target="https://en.cppreference.com/w/c/language/bit_fiel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hyperlink" Target="https://stackoverflow.com/a/15685301/14972078" TargetMode="External"/><Relationship Id="rId5" Type="http://schemas.openxmlformats.org/officeDocument/2006/relationships/hyperlink" Target="https://stackoverflow.com/a/25672839/14972078" TargetMode="External"/><Relationship Id="rId6" Type="http://schemas.openxmlformats.org/officeDocument/2006/relationships/hyperlink" Target="https://stackoverflow.com/a/25672839/14972078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hyperlink" Target="https://github.com/SFML/CSFML/blob/master/include/CSFML/Window/Event.h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stackoverflow.com/questions/9804371/syntax-and-sample-usage-of-generic-in-c11" TargetMode="External"/><Relationship Id="rId4" Type="http://schemas.openxmlformats.org/officeDocument/2006/relationships/image" Target="../media/image40.png"/><Relationship Id="rId5" Type="http://schemas.openxmlformats.org/officeDocument/2006/relationships/image" Target="../media/image46.png"/><Relationship Id="rId6" Type="http://schemas.openxmlformats.org/officeDocument/2006/relationships/hyperlink" Target="https://github.com/simonbyrne/apple-libm/blob/master/Source/ARM/sqrt.c" TargetMode="External"/><Relationship Id="rId7" Type="http://schemas.openxmlformats.org/officeDocument/2006/relationships/hyperlink" Target="https://en.cppreference.com/w/c/header/tgmath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en.cppreference.com/w/c/23" TargetMode="External"/><Relationship Id="rId4" Type="http://schemas.openxmlformats.org/officeDocument/2006/relationships/image" Target="../media/image49.png"/><Relationship Id="rId5" Type="http://schemas.openxmlformats.org/officeDocument/2006/relationships/hyperlink" Target="https://en.cppreference.com/w/c/preprocessor/embed" TargetMode="External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hyperlink" Target="https://en.cppreference.com/w/c/language/constexpr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Relationship Id="rId4" Type="http://schemas.openxmlformats.org/officeDocument/2006/relationships/image" Target="../media/image57.png"/><Relationship Id="rId5" Type="http://schemas.openxmlformats.org/officeDocument/2006/relationships/image" Target="../media/image51.png"/><Relationship Id="rId6" Type="http://schemas.openxmlformats.org/officeDocument/2006/relationships/image" Target="../media/image60.png"/><Relationship Id="rId7" Type="http://schemas.openxmlformats.org/officeDocument/2006/relationships/hyperlink" Target="https://www.open-std.org/jtc1/sc22/wg21/docs/papers/2014/n4210.pdf" TargetMode="External"/><Relationship Id="rId8" Type="http://schemas.openxmlformats.org/officeDocument/2006/relationships/hyperlink" Target="https://www.open-std.org/jtc1/sc22/wg14/www/docs/n2940.pdf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open-std.org/jtc1/sc22/wg21/docs/papers/2014/n4210.pdf" TargetMode="External"/><Relationship Id="rId4" Type="http://schemas.openxmlformats.org/officeDocument/2006/relationships/hyperlink" Target="https://www.open-std.org/jtc1/sc22/wg14/www/docs/n2940.pdf" TargetMode="External"/><Relationship Id="rId5" Type="http://schemas.openxmlformats.org/officeDocument/2006/relationships/image" Target="../media/image51.png"/><Relationship Id="rId6" Type="http://schemas.openxmlformats.org/officeDocument/2006/relationships/image" Target="../media/image60.png"/><Relationship Id="rId7" Type="http://schemas.openxmlformats.org/officeDocument/2006/relationships/image" Target="../media/image152.png"/><Relationship Id="rId8" Type="http://schemas.openxmlformats.org/officeDocument/2006/relationships/hyperlink" Target="https://en.wikipedia.org/wiki/Model_M_keyboard#Features_by_part_number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Relationship Id="rId4" Type="http://schemas.openxmlformats.org/officeDocument/2006/relationships/image" Target="../media/image71.png"/><Relationship Id="rId5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png"/><Relationship Id="rId4" Type="http://schemas.openxmlformats.org/officeDocument/2006/relationships/image" Target="../media/image70.png"/><Relationship Id="rId5" Type="http://schemas.openxmlformats.org/officeDocument/2006/relationships/image" Target="../media/image59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Relationship Id="rId4" Type="http://schemas.openxmlformats.org/officeDocument/2006/relationships/hyperlink" Target="https://www.open-std.org/jtc1/sc22/wg14/www/docs/n2432.pdf" TargetMode="External"/><Relationship Id="rId5" Type="http://schemas.openxmlformats.org/officeDocument/2006/relationships/image" Target="../media/image80.png"/><Relationship Id="rId6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7.png"/><Relationship Id="rId4" Type="http://schemas.openxmlformats.org/officeDocument/2006/relationships/hyperlink" Target="https://stackoverflow.com/questions/76527163/why-is-the-auto-keyword-useful-for-compiler-writers-in-c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8.png"/><Relationship Id="rId4" Type="http://schemas.openxmlformats.org/officeDocument/2006/relationships/image" Target="../media/image85.png"/><Relationship Id="rId5" Type="http://schemas.openxmlformats.org/officeDocument/2006/relationships/image" Target="../media/image81.png"/><Relationship Id="rId6" Type="http://schemas.openxmlformats.org/officeDocument/2006/relationships/hyperlink" Target="https://stackoverflow.com/questions/76527163/why-is-the-auto-keyword-useful-for-compiler-writers-in-c" TargetMode="External"/><Relationship Id="rId7" Type="http://schemas.openxmlformats.org/officeDocument/2006/relationships/hyperlink" Target="https://web.archive.org/web/20150611114404/https://www.bell-labs.com/usr/dmr/www/bintro.html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3.png"/><Relationship Id="rId4" Type="http://schemas.openxmlformats.org/officeDocument/2006/relationships/hyperlink" Target="https://cppinsights.io/s/12fb0457" TargetMode="External"/><Relationship Id="rId5" Type="http://schemas.openxmlformats.org/officeDocument/2006/relationships/image" Target="../media/image69.png"/><Relationship Id="rId6" Type="http://schemas.openxmlformats.org/officeDocument/2006/relationships/hyperlink" Target="https://en.cppreference.com/w/cpp/language/auto" TargetMode="External"/><Relationship Id="rId7" Type="http://schemas.openxmlformats.org/officeDocument/2006/relationships/hyperlink" Target="https://stackoverflow.com/questions/12084040/what-is-the-difference-between-decltype-and-auto-as-a-placeholder-type-for-varia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3.png"/><Relationship Id="rId4" Type="http://schemas.openxmlformats.org/officeDocument/2006/relationships/hyperlink" Target="https://dev.to/pauljlucas/auto-in-c23-ij9" TargetMode="External"/><Relationship Id="rId5" Type="http://schemas.openxmlformats.org/officeDocument/2006/relationships/hyperlink" Target="https://stackoverflow.com/questions/64846957/is-there-any-difference-between-auto-and-auto-typ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6.png"/><Relationship Id="rId4" Type="http://schemas.openxmlformats.org/officeDocument/2006/relationships/image" Target="../media/image7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8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86.png"/><Relationship Id="rId8" Type="http://schemas.openxmlformats.org/officeDocument/2006/relationships/image" Target="../media/image8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7.png"/><Relationship Id="rId4" Type="http://schemas.openxmlformats.org/officeDocument/2006/relationships/hyperlink" Target="https://stackoverflow.com/a/13618604/14972078" TargetMode="External"/><Relationship Id="rId5" Type="http://schemas.openxmlformats.org/officeDocument/2006/relationships/image" Target="../media/image82.png"/><Relationship Id="rId6" Type="http://schemas.openxmlformats.org/officeDocument/2006/relationships/image" Target="../media/image7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4.png"/><Relationship Id="rId4" Type="http://schemas.openxmlformats.org/officeDocument/2006/relationships/hyperlink" Target="https://godbolt.org/z/sT4EKsM7n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godbolt.org/z/zdzsWd77T" TargetMode="External"/><Relationship Id="rId4" Type="http://schemas.openxmlformats.org/officeDocument/2006/relationships/image" Target="../media/image90.png"/><Relationship Id="rId5" Type="http://schemas.openxmlformats.org/officeDocument/2006/relationships/hyperlink" Target="https://godbolt.org/z/cfhjxse87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stackoverflow.com/a/132702/14972078" TargetMode="External"/><Relationship Id="rId4" Type="http://schemas.openxmlformats.org/officeDocument/2006/relationships/image" Target="../media/image12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7.png"/><Relationship Id="rId4" Type="http://schemas.openxmlformats.org/officeDocument/2006/relationships/image" Target="../media/image10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8.png"/><Relationship Id="rId4" Type="http://schemas.openxmlformats.org/officeDocument/2006/relationships/image" Target="../media/image9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1.png"/><Relationship Id="rId4" Type="http://schemas.openxmlformats.org/officeDocument/2006/relationships/image" Target="../media/image11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9.png"/><Relationship Id="rId4" Type="http://schemas.openxmlformats.org/officeDocument/2006/relationships/image" Target="../media/image96.png"/><Relationship Id="rId9" Type="http://schemas.openxmlformats.org/officeDocument/2006/relationships/hyperlink" Target="https://stackoverflow.com/questions/54165262/flexible-array-member-and-pointer-member-pros-and-cons" TargetMode="External"/><Relationship Id="rId5" Type="http://schemas.openxmlformats.org/officeDocument/2006/relationships/image" Target="../media/image102.png"/><Relationship Id="rId6" Type="http://schemas.openxmlformats.org/officeDocument/2006/relationships/image" Target="../media/image113.png"/><Relationship Id="rId7" Type="http://schemas.openxmlformats.org/officeDocument/2006/relationships/hyperlink" Target="https://qsantos.fr/2022/10/25/flexible-array-members-typical-c-shenanigans/" TargetMode="External"/><Relationship Id="rId8" Type="http://schemas.openxmlformats.org/officeDocument/2006/relationships/hyperlink" Target="https://people.kernel.org/kees/bounded-flexible-arrays-in-c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c-faq.com/null/machexamp.html" TargetMode="External"/><Relationship Id="rId4" Type="http://schemas.openxmlformats.org/officeDocument/2006/relationships/hyperlink" Target="https://c-faq.com/null/machexamp.html" TargetMode="External"/><Relationship Id="rId5" Type="http://schemas.openxmlformats.org/officeDocument/2006/relationships/hyperlink" Target="https://c-faq.com/null/machexamp.html" TargetMode="External"/><Relationship Id="rId6" Type="http://schemas.openxmlformats.org/officeDocument/2006/relationships/hyperlink" Target="https://pubs.opengroup.org/onlinepubs/9699919799/basedefs/stddef.h.html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08.png"/><Relationship Id="rId4" Type="http://schemas.openxmlformats.org/officeDocument/2006/relationships/image" Target="../media/image10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5.png"/><Relationship Id="rId4" Type="http://schemas.openxmlformats.org/officeDocument/2006/relationships/image" Target="../media/image10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4.png"/><Relationship Id="rId4" Type="http://schemas.openxmlformats.org/officeDocument/2006/relationships/image" Target="../media/image11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7.png"/><Relationship Id="rId4" Type="http://schemas.openxmlformats.org/officeDocument/2006/relationships/slide" Target="/ppt/slides/slide61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9.png"/><Relationship Id="rId4" Type="http://schemas.openxmlformats.org/officeDocument/2006/relationships/slide" Target="/ppt/slides/slide62.xml"/><Relationship Id="rId5" Type="http://schemas.openxmlformats.org/officeDocument/2006/relationships/slide" Target="/ppt/slides/slide54.xml"/><Relationship Id="rId6" Type="http://schemas.openxmlformats.org/officeDocument/2006/relationships/image" Target="../media/image12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11.png"/><Relationship Id="rId4" Type="http://schemas.openxmlformats.org/officeDocument/2006/relationships/image" Target="../media/image12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17.png"/><Relationship Id="rId4" Type="http://schemas.openxmlformats.org/officeDocument/2006/relationships/hyperlink" Target="https://stackoverflow.com/a/11589500/14972078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21.png"/><Relationship Id="rId4" Type="http://schemas.openxmlformats.org/officeDocument/2006/relationships/image" Target="../media/image143.png"/><Relationship Id="rId5" Type="http://schemas.openxmlformats.org/officeDocument/2006/relationships/hyperlink" Target="https://en.wikipedia.org/wiki/Duff's_device" TargetMode="External"/><Relationship Id="rId6" Type="http://schemas.openxmlformats.org/officeDocument/2006/relationships/hyperlink" Target="https://web.archive.org/web/20250102130853mp_/https://www.chiark.greenend.org.uk/~sgtatham/coroutines.html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12.png"/><Relationship Id="rId4" Type="http://schemas.openxmlformats.org/officeDocument/2006/relationships/image" Target="../media/image11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32.png"/><Relationship Id="rId4" Type="http://schemas.openxmlformats.org/officeDocument/2006/relationships/hyperlink" Target="https://stackoverflow.com/questions/76449600/what-is-the-point-of-switch-while-0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5.png"/><Relationship Id="rId4" Type="http://schemas.openxmlformats.org/officeDocument/2006/relationships/image" Target="../media/image133.png"/><Relationship Id="rId5" Type="http://schemas.openxmlformats.org/officeDocument/2006/relationships/image" Target="../media/image119.png"/><Relationship Id="rId6" Type="http://schemas.openxmlformats.org/officeDocument/2006/relationships/image" Target="../media/image11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9.png"/><Relationship Id="rId4" Type="http://schemas.openxmlformats.org/officeDocument/2006/relationships/image" Target="../media/image123.png"/><Relationship Id="rId5" Type="http://schemas.openxmlformats.org/officeDocument/2006/relationships/image" Target="../media/image127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://drive.google.com/file/d/13mQLFkwe1pziH0LQNgi1sisRToKrP9KI/view" TargetMode="External"/><Relationship Id="rId4" Type="http://schemas.openxmlformats.org/officeDocument/2006/relationships/image" Target="../media/image124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26.png"/><Relationship Id="rId4" Type="http://schemas.openxmlformats.org/officeDocument/2006/relationships/image" Target="../media/image13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stackoverflow.com/a/29335559/14972078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31.png"/><Relationship Id="rId4" Type="http://schemas.openxmlformats.org/officeDocument/2006/relationships/image" Target="../media/image136.png"/><Relationship Id="rId5" Type="http://schemas.openxmlformats.org/officeDocument/2006/relationships/image" Target="../media/image12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36.png"/><Relationship Id="rId4" Type="http://schemas.openxmlformats.org/officeDocument/2006/relationships/image" Target="../media/image12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35.png"/><Relationship Id="rId4" Type="http://schemas.openxmlformats.org/officeDocument/2006/relationships/image" Target="../media/image13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30.png"/><Relationship Id="rId4" Type="http://schemas.openxmlformats.org/officeDocument/2006/relationships/image" Target="../media/image13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38.png"/><Relationship Id="rId4" Type="http://schemas.openxmlformats.org/officeDocument/2006/relationships/image" Target="../media/image142.png"/><Relationship Id="rId5" Type="http://schemas.openxmlformats.org/officeDocument/2006/relationships/image" Target="../media/image13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51.png"/><Relationship Id="rId4" Type="http://schemas.openxmlformats.org/officeDocument/2006/relationships/image" Target="../media/image14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4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39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48.png"/><Relationship Id="rId4" Type="http://schemas.openxmlformats.org/officeDocument/2006/relationships/slide" Target="/ppt/slides/slide54.xml"/><Relationship Id="rId5" Type="http://schemas.openxmlformats.org/officeDocument/2006/relationships/hyperlink" Target="https://www.reddit.com/r/C_Programming/comments/1j83urv/comment/mh3dz76/?utm_source=share&amp;utm_medium=web3x&amp;utm_name=web3xcss&amp;utm_term=1&amp;utm_content=share_button" TargetMode="External"/><Relationship Id="rId6" Type="http://schemas.openxmlformats.org/officeDocument/2006/relationships/hyperlink" Target="https://godbolt.org/z/oo8vxMG7T" TargetMode="Externa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44.png"/><Relationship Id="rId4" Type="http://schemas.openxmlformats.org/officeDocument/2006/relationships/hyperlink" Target="https://godbolt.org/z/r3K7nrbdE" TargetMode="External"/><Relationship Id="rId5" Type="http://schemas.openxmlformats.org/officeDocument/2006/relationships/hyperlink" Target="https://godbolt.org/z/M4P45ejn5" TargetMode="External"/><Relationship Id="rId6" Type="http://schemas.openxmlformats.org/officeDocument/2006/relationships/hyperlink" Target="https://stackoverflow.com/questions/55696680/in-which-versions-of-the-c-standard-are-variable-length-arrays-not-part-of-the-l" TargetMode="Externa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53.png"/><Relationship Id="rId4" Type="http://schemas.openxmlformats.org/officeDocument/2006/relationships/hyperlink" Target="https://stackoverflow.com/questions/17371645/why-use-an-asterisk-instead-of-an-integer-for-a-vla-array-parameter-of-a-f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45.png"/><Relationship Id="rId4" Type="http://schemas.openxmlformats.org/officeDocument/2006/relationships/image" Target="../media/image14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49.png"/><Relationship Id="rId4" Type="http://schemas.openxmlformats.org/officeDocument/2006/relationships/slide" Target="/ppt/slides/slide54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61.png"/><Relationship Id="rId4" Type="http://schemas.openxmlformats.org/officeDocument/2006/relationships/hyperlink" Target="https://retrocomputing.stackexchange.com/questions/28357/has-the-entry-keyword-ever-been-implemented-in-c" TargetMode="External"/><Relationship Id="rId5" Type="http://schemas.openxmlformats.org/officeDocument/2006/relationships/hyperlink" Target="https://stackoverflow.com/questions/254395/whatever-happened-to-the-entry-keyword" TargetMode="External"/><Relationship Id="rId6" Type="http://schemas.openxmlformats.org/officeDocument/2006/relationships/image" Target="../media/image154.png"/><Relationship Id="rId7" Type="http://schemas.openxmlformats.org/officeDocument/2006/relationships/hyperlink" Target="http://www.3kranger.com/HP3000/mpeix/doc3k/B3150190022.12120/31.htm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55.png"/><Relationship Id="rId4" Type="http://schemas.openxmlformats.org/officeDocument/2006/relationships/hyperlink" Target="https://everything2.com/e2node/%2523pragma" TargetMode="External"/><Relationship Id="rId5" Type="http://schemas.openxmlformats.org/officeDocument/2006/relationships/hyperlink" Target="https://sourceforge.net/projects/crossdjgppv1/files/GNU%20Source/" TargetMode="External"/><Relationship Id="rId6" Type="http://schemas.openxmlformats.org/officeDocument/2006/relationships/hyperlink" Target="https://stackoverflow.com/questions/3791259/where-does-the-word-pragma-come-from" TargetMode="External"/><Relationship Id="rId7" Type="http://schemas.openxmlformats.org/officeDocument/2006/relationships/hyperlink" Target="https://stackoverflow.com/questions/1263521/what-is-pragma-once-used-for" TargetMode="Externa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6.png"/><Relationship Id="rId4" Type="http://schemas.openxmlformats.org/officeDocument/2006/relationships/image" Target="../media/image157.png"/><Relationship Id="rId5" Type="http://schemas.openxmlformats.org/officeDocument/2006/relationships/hyperlink" Target="https://blog.aerojockey.com/iocccsim/" TargetMode="External"/><Relationship Id="rId6" Type="http://schemas.openxmlformats.org/officeDocument/2006/relationships/hyperlink" Target="https://www.ioccc.org/" TargetMode="External"/><Relationship Id="rId7" Type="http://schemas.openxmlformats.org/officeDocument/2006/relationships/hyperlink" Target="https://github.com/ioccc-src/winner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56.png"/><Relationship Id="rId4" Type="http://schemas.openxmlformats.org/officeDocument/2006/relationships/hyperlink" Target="https://eli.thegreenplace.net/2012/07/12/computed-goto-for-efficient-dispatch-tables" TargetMode="External"/><Relationship Id="rId5" Type="http://schemas.openxmlformats.org/officeDocument/2006/relationships/hyperlink" Target="https://godbolt.org/z/PY3MTxj9z" TargetMode="External"/><Relationship Id="rId6" Type="http://schemas.openxmlformats.org/officeDocument/2006/relationships/hyperlink" Target="https://web.archive.org/web/20250107011256/https://cohost.org/eniko/post/394049-coroutines-using-com" TargetMode="External"/><Relationship Id="rId7" Type="http://schemas.openxmlformats.org/officeDocument/2006/relationships/hyperlink" Target="https://gcc.gnu.org/onlinedocs/gcc/Labels-as-Values.html" TargetMode="Externa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60.png"/><Relationship Id="rId4" Type="http://schemas.openxmlformats.org/officeDocument/2006/relationships/hyperlink" Target="https://gcc.gnu.org/onlinedocs/gcc/Case-Ranges.html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50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47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hyperlink" Target="https://gcc.gnu.org/onlinedocs/gcc/Designated-Inits.html" TargetMode="External"/><Relationship Id="rId4" Type="http://schemas.openxmlformats.org/officeDocument/2006/relationships/image" Target="../media/image15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20" Type="http://schemas.openxmlformats.org/officeDocument/2006/relationships/hyperlink" Target="https://exple.tive.org/blarg/2013/10/22/citation-needed/" TargetMode="External"/><Relationship Id="rId11" Type="http://schemas.openxmlformats.org/officeDocument/2006/relationships/hyperlink" Target="https://zestedesavoir.com/tutoriels/755/le-langage-c-1/" TargetMode="External"/><Relationship Id="rId10" Type="http://schemas.openxmlformats.org/officeDocument/2006/relationships/hyperlink" Target="https://open-std.org/JTC1/SC22/WG14/www/docs/n3467.pdf" TargetMode="External"/><Relationship Id="rId13" Type="http://schemas.openxmlformats.org/officeDocument/2006/relationships/hyperlink" Target="https://github.com/3b1b/manim/tree/master" TargetMode="External"/><Relationship Id="rId12" Type="http://schemas.openxmlformats.org/officeDocument/2006/relationships/hyperlink" Target="https://pastebin.com/XEsU72aE" TargetMode="External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2.xml"/><Relationship Id="rId3" Type="http://schemas.openxmlformats.org/officeDocument/2006/relationships/hyperlink" Target="https://web.archive.org/web/20250207180449/https://retrofun.pl/wp-content/uploads/sites/2/2023/12/1978-ritchie-the-c-programming-language.pdf" TargetMode="External"/><Relationship Id="rId4" Type="http://schemas.openxmlformats.org/officeDocument/2006/relationships/hyperlink" Target="https://web.archive.org/web/20150604055106/http://www.pdf-archive.com/2014/10/02/ansi-iso-9899-1990-1/ansi-iso-9899-1990-1.pdf" TargetMode="External"/><Relationship Id="rId9" Type="http://schemas.openxmlformats.org/officeDocument/2006/relationships/hyperlink" Target="https://files.lhmouse.com/standards/ISO%20C%20N2176.pdf" TargetMode="External"/><Relationship Id="rId15" Type="http://schemas.openxmlformats.org/officeDocument/2006/relationships/hyperlink" Target="https://www.stroustrup.com/sibling_rivalry.pdf" TargetMode="External"/><Relationship Id="rId14" Type="http://schemas.openxmlformats.org/officeDocument/2006/relationships/hyperlink" Target="https://www.c-language.org/" TargetMode="External"/><Relationship Id="rId17" Type="http://schemas.openxmlformats.org/officeDocument/2006/relationships/hyperlink" Target="https://godbolt.org/" TargetMode="External"/><Relationship Id="rId16" Type="http://schemas.openxmlformats.org/officeDocument/2006/relationships/hyperlink" Target="https://en.cppreference.com/w/c/language/history" TargetMode="External"/><Relationship Id="rId5" Type="http://schemas.openxmlformats.org/officeDocument/2006/relationships/hyperlink" Target="https://cdn.standards.iteh.ai/samples/23909/3713b553291741f7aa531e8de6b28bfe/ISO-IEC-9899-1990-Amd-1-1995.pdf" TargetMode="External"/><Relationship Id="rId19" Type="http://schemas.openxmlformats.org/officeDocument/2006/relationships/hyperlink" Target="https://web.archive.org/web/20150611114355/https://www.bell-labs.com/usr/dmr/www/chist.html" TargetMode="External"/><Relationship Id="rId6" Type="http://schemas.openxmlformats.org/officeDocument/2006/relationships/hyperlink" Target="https://www.dii.uchile.cl/~daespino/files/Iso_C_1999_definition.pdf" TargetMode="External"/><Relationship Id="rId18" Type="http://schemas.openxmlformats.org/officeDocument/2006/relationships/hyperlink" Target="https://arstechnica.com/features/2020/12/a-damn-stupid-thing-to-do-the-origins-of-c/" TargetMode="External"/><Relationship Id="rId7" Type="http://schemas.openxmlformats.org/officeDocument/2006/relationships/hyperlink" Target="http://port70.net/~nsz/c/c99/C99RationaleV5.10.pdf" TargetMode="External"/><Relationship Id="rId8" Type="http://schemas.openxmlformats.org/officeDocument/2006/relationships/hyperlink" Target="https://www.open-std.org/jtc1/sc22/wg14/www/docs/n1548.pdf" TargetMode="Externa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59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5.xml"/><Relationship Id="rId3" Type="http://schemas.openxmlformats.org/officeDocument/2006/relationships/hyperlink" Target="https://stackoverflow.com/questions/3575350/sequence-points-in-c" TargetMode="Externa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6.xml"/><Relationship Id="rId3" Type="http://schemas.openxmlformats.org/officeDocument/2006/relationships/hyperlink" Target="https://blog.llvm.org/2011/05/what-every-c-programmer-should-know.html" TargetMode="Externa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46.png"/><Relationship Id="rId4" Type="http://schemas.openxmlformats.org/officeDocument/2006/relationships/hyperlink" Target="https://www.reddit.com/r/C_Programming/comments/1j83urv/ill_be_giving_a_talk_about_c_and_c_standards_am_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/>
          <p:nvPr/>
        </p:nvSpPr>
        <p:spPr>
          <a:xfrm>
            <a:off x="125" y="4063975"/>
            <a:ext cx="21756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 txBox="1"/>
          <p:nvPr>
            <p:ph type="ctrTitle"/>
          </p:nvPr>
        </p:nvSpPr>
        <p:spPr>
          <a:xfrm>
            <a:off x="185600" y="32425"/>
            <a:ext cx="8378100" cy="11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LES</a:t>
            </a:r>
            <a:r>
              <a:rPr lang="en" sz="4900">
                <a:solidFill>
                  <a:schemeClr val="lt1"/>
                </a:solidFill>
              </a:rPr>
              <a:t> </a:t>
            </a:r>
            <a:r>
              <a:rPr lang="en" sz="4900">
                <a:solidFill>
                  <a:schemeClr val="lt1"/>
                </a:solidFill>
              </a:rPr>
              <a:t>BIZARRERI</a:t>
            </a:r>
            <a:r>
              <a:rPr lang="en" sz="4900"/>
              <a:t>ES</a:t>
            </a:r>
            <a:r>
              <a:rPr lang="en" sz="4900">
                <a:solidFill>
                  <a:schemeClr val="lt1"/>
                </a:solidFill>
              </a:rPr>
              <a:t> </a:t>
            </a:r>
            <a:r>
              <a:rPr lang="en" sz="4900"/>
              <a:t>DU C</a:t>
            </a:r>
            <a:endParaRPr sz="4900"/>
          </a:p>
        </p:txBody>
      </p:sp>
      <p:sp>
        <p:nvSpPr>
          <p:cNvPr id="237" name="Google Shape;237;p36"/>
          <p:cNvSpPr txBox="1"/>
          <p:nvPr>
            <p:ph idx="1" type="subTitle"/>
          </p:nvPr>
        </p:nvSpPr>
        <p:spPr>
          <a:xfrm>
            <a:off x="275875" y="1219515"/>
            <a:ext cx="37710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Ou </a:t>
            </a:r>
            <a:r>
              <a:rPr b="1" lang="en" sz="2150"/>
              <a:t>comment faire du C dégueulasse</a:t>
            </a:r>
            <a:r>
              <a:rPr lang="en" sz="2150"/>
              <a:t> ?</a:t>
            </a:r>
            <a:endParaRPr sz="2150"/>
          </a:p>
        </p:txBody>
      </p:sp>
      <p:sp>
        <p:nvSpPr>
          <p:cNvPr id="238" name="Google Shape;238;p36"/>
          <p:cNvSpPr txBox="1"/>
          <p:nvPr/>
        </p:nvSpPr>
        <p:spPr>
          <a:xfrm>
            <a:off x="216275" y="4253425"/>
            <a:ext cx="1743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Thomas Sayen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9" name="Google Shape;23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950" y="1146625"/>
            <a:ext cx="2734475" cy="351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275" y="1371925"/>
            <a:ext cx="1823747" cy="36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/>
          <p:nvPr/>
        </p:nvSpPr>
        <p:spPr>
          <a:xfrm rot="9815116">
            <a:off x="7223615" y="260073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 txBox="1"/>
          <p:nvPr>
            <p:ph type="title"/>
          </p:nvPr>
        </p:nvSpPr>
        <p:spPr>
          <a:xfrm>
            <a:off x="780925" y="655225"/>
            <a:ext cx="7353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HISTOIRE SIMPLIFIÉE </a:t>
            </a:r>
            <a:r>
              <a:rPr lang="en">
                <a:solidFill>
                  <a:schemeClr val="accent1"/>
                </a:solidFill>
              </a:rPr>
              <a:t>DU C</a:t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29" y="2796599"/>
            <a:ext cx="1425026" cy="200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7"/>
          <p:cNvSpPr/>
          <p:nvPr/>
        </p:nvSpPr>
        <p:spPr>
          <a:xfrm flipH="1" rot="984884">
            <a:off x="6172965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/>
          <p:nvPr/>
        </p:nvSpPr>
        <p:spPr>
          <a:xfrm rot="-984884">
            <a:off x="5145419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/>
          <p:nvPr/>
        </p:nvSpPr>
        <p:spPr>
          <a:xfrm flipH="1" rot="984884">
            <a:off x="4110647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 rot="-984884">
            <a:off x="3088125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 flipH="1" rot="984884">
            <a:off x="2057470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7"/>
          <p:cNvGrpSpPr/>
          <p:nvPr/>
        </p:nvGrpSpPr>
        <p:grpSpPr>
          <a:xfrm>
            <a:off x="2205953" y="2637121"/>
            <a:ext cx="1866329" cy="1313173"/>
            <a:chOff x="2683803" y="2543425"/>
            <a:chExt cx="1712857" cy="1230715"/>
          </a:xfrm>
        </p:grpSpPr>
        <p:sp>
          <p:nvSpPr>
            <p:cNvPr id="254" name="Google Shape;254;p37"/>
            <p:cNvSpPr txBox="1"/>
            <p:nvPr/>
          </p:nvSpPr>
          <p:spPr>
            <a:xfrm>
              <a:off x="3191705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1978 - K&amp;R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37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7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7"/>
            <p:cNvSpPr txBox="1"/>
            <p:nvPr/>
          </p:nvSpPr>
          <p:spPr>
            <a:xfrm>
              <a:off x="2728060" y="3107839"/>
              <a:ext cx="1668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Spécification non-officielle du C.  Livre coécrit par Ritchie et Brian Kernighan, d’où K&amp;R.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" name="Google Shape;258;p37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37"/>
          <p:cNvGrpSpPr/>
          <p:nvPr/>
        </p:nvGrpSpPr>
        <p:grpSpPr>
          <a:xfrm>
            <a:off x="4332600" y="2637172"/>
            <a:ext cx="1712700" cy="1313173"/>
            <a:chOff x="4734203" y="2543425"/>
            <a:chExt cx="1712700" cy="1230715"/>
          </a:xfrm>
        </p:grpSpPr>
        <p:sp>
          <p:nvSpPr>
            <p:cNvPr id="260" name="Google Shape;260;p37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 txBox="1"/>
            <p:nvPr/>
          </p:nvSpPr>
          <p:spPr>
            <a:xfrm>
              <a:off x="5234191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1999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 txBox="1"/>
            <p:nvPr/>
          </p:nvSpPr>
          <p:spPr>
            <a:xfrm>
              <a:off x="47784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C99 : 2ᵉ norme du C.</a:t>
              </a:r>
              <a:b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C’est le standard le plus utilisé, car supporté par ~100% des machines et ajouts depuis C89.</a:t>
              </a:r>
              <a:endParaRPr sz="800">
                <a:solidFill>
                  <a:srgbClr val="5E5E5E"/>
                </a:solidFill>
              </a:endParaRPr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37"/>
          <p:cNvSpPr/>
          <p:nvPr/>
        </p:nvSpPr>
        <p:spPr>
          <a:xfrm rot="-984884">
            <a:off x="1034948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37"/>
          <p:cNvGrpSpPr/>
          <p:nvPr/>
        </p:nvGrpSpPr>
        <p:grpSpPr>
          <a:xfrm>
            <a:off x="1240253" y="1315307"/>
            <a:ext cx="1712700" cy="1246754"/>
            <a:chOff x="1641853" y="1221570"/>
            <a:chExt cx="1712700" cy="1246754"/>
          </a:xfrm>
        </p:grpSpPr>
        <p:sp>
          <p:nvSpPr>
            <p:cNvPr id="267" name="Google Shape;267;p37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7"/>
            <p:cNvSpPr txBox="1"/>
            <p:nvPr/>
          </p:nvSpPr>
          <p:spPr>
            <a:xfrm>
              <a:off x="2148922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1972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37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7"/>
            <p:cNvSpPr txBox="1"/>
            <p:nvPr/>
          </p:nvSpPr>
          <p:spPr>
            <a:xfrm>
              <a:off x="1686103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Création du C par Dennis Ritchie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37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37"/>
          <p:cNvGrpSpPr/>
          <p:nvPr/>
        </p:nvGrpSpPr>
        <p:grpSpPr>
          <a:xfrm>
            <a:off x="5347610" y="1315307"/>
            <a:ext cx="1712715" cy="1246754"/>
            <a:chOff x="5770307" y="1221570"/>
            <a:chExt cx="1712715" cy="1246754"/>
          </a:xfrm>
        </p:grpSpPr>
        <p:sp>
          <p:nvSpPr>
            <p:cNvPr id="273" name="Google Shape;273;p37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7"/>
            <p:cNvSpPr txBox="1"/>
            <p:nvPr/>
          </p:nvSpPr>
          <p:spPr>
            <a:xfrm>
              <a:off x="5770322" y="1986913"/>
              <a:ext cx="17127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2011 (C11) - 2018 (C17 ou C18)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7"/>
            <p:cNvSpPr txBox="1"/>
            <p:nvPr/>
          </p:nvSpPr>
          <p:spPr>
            <a:xfrm>
              <a:off x="5814557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Changements et ajouts mineurs.</a:t>
              </a:r>
              <a:endParaRPr sz="800">
                <a:solidFill>
                  <a:srgbClr val="5E5E5E"/>
                </a:solidFill>
              </a:endParaRPr>
            </a:p>
          </p:txBody>
        </p:sp>
      </p:grpSp>
      <p:grpSp>
        <p:nvGrpSpPr>
          <p:cNvPr id="278" name="Google Shape;278;p37"/>
          <p:cNvGrpSpPr/>
          <p:nvPr/>
        </p:nvGrpSpPr>
        <p:grpSpPr>
          <a:xfrm>
            <a:off x="3206459" y="1315303"/>
            <a:ext cx="1866329" cy="1246754"/>
            <a:chOff x="3692203" y="1221570"/>
            <a:chExt cx="1712700" cy="1246754"/>
          </a:xfrm>
        </p:grpSpPr>
        <p:sp>
          <p:nvSpPr>
            <p:cNvPr id="279" name="Google Shape;279;p37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 txBox="1"/>
            <p:nvPr/>
          </p:nvSpPr>
          <p:spPr>
            <a:xfrm>
              <a:off x="3736375" y="1986913"/>
              <a:ext cx="1624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1983 → 1989 - ANSI &amp; ISO (1990)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 txBox="1"/>
            <p:nvPr/>
          </p:nvSpPr>
          <p:spPr>
            <a:xfrm>
              <a:off x="3736453" y="1258770"/>
              <a:ext cx="1624200" cy="624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Standardisation du C, le C89 (aussi appelé ANSI C) devient la première norme officielle.</a:t>
              </a:r>
              <a:endParaRPr sz="800">
                <a:solidFill>
                  <a:schemeClr val="lt1"/>
                </a:solidFill>
              </a:endParaRPr>
            </a:p>
          </p:txBody>
        </p:sp>
      </p:grpSp>
      <p:grpSp>
        <p:nvGrpSpPr>
          <p:cNvPr id="284" name="Google Shape;284;p37"/>
          <p:cNvGrpSpPr/>
          <p:nvPr/>
        </p:nvGrpSpPr>
        <p:grpSpPr>
          <a:xfrm flipH="1" rot="10800000">
            <a:off x="6385076" y="2646916"/>
            <a:ext cx="1941003" cy="1313205"/>
            <a:chOff x="5770307" y="1221570"/>
            <a:chExt cx="1712700" cy="1246754"/>
          </a:xfrm>
        </p:grpSpPr>
        <p:sp>
          <p:nvSpPr>
            <p:cNvPr id="285" name="Google Shape;285;p37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 txBox="1"/>
            <p:nvPr/>
          </p:nvSpPr>
          <p:spPr>
            <a:xfrm rot="10800000">
              <a:off x="5953622" y="1986913"/>
              <a:ext cx="14250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2023 (C23)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7"/>
            <p:cNvSpPr txBox="1"/>
            <p:nvPr/>
          </p:nvSpPr>
          <p:spPr>
            <a:xfrm rot="10800000">
              <a:off x="5814557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75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Modernisation notable du langage (suppression de vieilleries) et emprunts au C++ (nullptr / constexpr), expérimental à ce jour (février 2025)</a:t>
              </a:r>
              <a:endParaRPr sz="750">
                <a:solidFill>
                  <a:srgbClr val="5E5E5E"/>
                </a:solidFill>
              </a:endParaRPr>
            </a:p>
          </p:txBody>
        </p:sp>
      </p:grpSp>
      <p:cxnSp>
        <p:nvCxnSpPr>
          <p:cNvPr id="290" name="Google Shape;290;p37"/>
          <p:cNvCxnSpPr/>
          <p:nvPr/>
        </p:nvCxnSpPr>
        <p:spPr>
          <a:xfrm flipH="1">
            <a:off x="1769675" y="3572575"/>
            <a:ext cx="484500" cy="6600"/>
          </a:xfrm>
          <a:prstGeom prst="straightConnector1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37"/>
          <p:cNvSpPr txBox="1"/>
          <p:nvPr/>
        </p:nvSpPr>
        <p:spPr>
          <a:xfrm>
            <a:off x="7431300" y="4507775"/>
            <a:ext cx="1712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Article de blog sur le K&amp;R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QUELLE</a:t>
            </a:r>
            <a:r>
              <a:rPr lang="en">
                <a:solidFill>
                  <a:schemeClr val="dk2"/>
                </a:solidFill>
              </a:rPr>
              <a:t> VERSION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endParaRPr/>
          </a:p>
        </p:txBody>
      </p:sp>
      <p:sp>
        <p:nvSpPr>
          <p:cNvPr id="297" name="Google Shape;297;p38"/>
          <p:cNvSpPr txBox="1"/>
          <p:nvPr/>
        </p:nvSpPr>
        <p:spPr>
          <a:xfrm>
            <a:off x="952500" y="1502600"/>
            <a:ext cx="2333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À ce jour (mars 2025)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8" name="Google Shape;298;p38"/>
          <p:cNvGraphicFramePr/>
          <p:nvPr/>
        </p:nvGraphicFramePr>
        <p:xfrm>
          <a:off x="596975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498775"/>
                <a:gridCol w="1610225"/>
                <a:gridCol w="1495175"/>
                <a:gridCol w="1495175"/>
                <a:gridCol w="1495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Extrêmement </a:t>
                      </a:r>
                      <a:r>
                        <a:rPr lang="en"/>
                        <a:t>portable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Extrêmement portable + nombreux ajouts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Ajout (entre autres) de multithreading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Correction de bugs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Plus moderne mais expérimental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9" name="Google Shape;299;p38"/>
          <p:cNvSpPr/>
          <p:nvPr/>
        </p:nvSpPr>
        <p:spPr>
          <a:xfrm rot="10800000">
            <a:off x="5410200" y="3321100"/>
            <a:ext cx="439800" cy="53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8"/>
          <p:cNvSpPr/>
          <p:nvPr/>
        </p:nvSpPr>
        <p:spPr>
          <a:xfrm rot="10800000">
            <a:off x="6227700" y="3321100"/>
            <a:ext cx="439800" cy="53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5410200" y="3947525"/>
            <a:ext cx="15531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 défaut avec GCC 14.2.0 et Clang 19.1.0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0" y="3859925"/>
            <a:ext cx="30846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Comment détecter avec quelle version du C notre code est compilé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C23 étant encore expérimental, GCC 14.2.0 n’a pas encore mis __STDC_VERSION__ à jour.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7093350" y="3321100"/>
            <a:ext cx="205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Cheat sheet C11→C23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7093350" y="4378025"/>
            <a:ext cx="2050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IBM I </a:t>
            </a: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supporte </a:t>
            </a: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C99 maximum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(§ Industry Standards)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EXEMPLES</a:t>
            </a:r>
            <a:r>
              <a:rPr lang="en">
                <a:solidFill>
                  <a:schemeClr val="accent1"/>
                </a:solidFill>
              </a:rPr>
              <a:t> UTILES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40"/>
          <p:cNvGraphicFramePr/>
          <p:nvPr/>
        </p:nvGraphicFramePr>
        <p:xfrm>
          <a:off x="0" y="114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2443050"/>
                <a:gridCol w="4141500"/>
                <a:gridCol w="2559450"/>
              </a:tblGrid>
              <a:tr h="81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 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 </a:t>
                      </a:r>
                      <a:r>
                        <a:rPr lang="en" u="sng"/>
                        <a:t>pas de type booléen !</a:t>
                      </a:r>
                      <a:endParaRPr u="sng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 int souvent utilisé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Depuis C99 : §7.16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→bool, true, false = macros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</a:t>
                      </a:r>
                      <a:r>
                        <a:rPr lang="en"/>
                        <a:t>_Bool = mot-clef (§A.1.2)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Depuis C23 : §6.4.2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→bool, true, false = mot-clefs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→_Bool = mot-clef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2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3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5" name="Google Shape;315;p40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</a:t>
            </a:r>
            <a:r>
              <a:rPr lang="en">
                <a:solidFill>
                  <a:schemeClr val="accent1"/>
                </a:solidFill>
              </a:rPr>
              <a:t> BOOLÉENS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16" name="Google Shape;316;p40"/>
          <p:cNvPicPr preferRelativeResize="0"/>
          <p:nvPr/>
        </p:nvPicPr>
        <p:blipFill rotWithShape="1">
          <a:blip r:embed="rId3">
            <a:alphaModFix/>
          </a:blip>
          <a:srcRect b="0" l="0" r="6050" t="0"/>
          <a:stretch/>
        </p:blipFill>
        <p:spPr>
          <a:xfrm>
            <a:off x="6625107" y="3644088"/>
            <a:ext cx="2456718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6150" y="2137037"/>
            <a:ext cx="2254625" cy="9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4275" y="2302175"/>
            <a:ext cx="1756593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1075" y="3570900"/>
            <a:ext cx="1966575" cy="94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100" y="2197600"/>
            <a:ext cx="2161850" cy="9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2674" y="3703325"/>
            <a:ext cx="2161850" cy="809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4200" y="2115962"/>
            <a:ext cx="1966575" cy="10863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0"/>
          <p:cNvCxnSpPr/>
          <p:nvPr/>
        </p:nvCxnSpPr>
        <p:spPr>
          <a:xfrm>
            <a:off x="4478975" y="3387450"/>
            <a:ext cx="600" cy="13803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4478375" y="1968300"/>
            <a:ext cx="600" cy="14163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5" name="Google Shape;325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84200" y="3581850"/>
            <a:ext cx="1966575" cy="918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93" y="3634375"/>
            <a:ext cx="4041682" cy="6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INITIALISER LE </a:t>
            </a:r>
            <a:r>
              <a:rPr lang="en">
                <a:solidFill>
                  <a:schemeClr val="dk2"/>
                </a:solidFill>
              </a:rPr>
              <a:t>N-IÈME ÉLÉMENT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32" name="Google Shape;33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85" y="2481866"/>
            <a:ext cx="32956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985" y="1529366"/>
            <a:ext cx="2667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2035" y="1662716"/>
            <a:ext cx="52863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2025" y="2615228"/>
            <a:ext cx="5286371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1"/>
          <p:cNvSpPr/>
          <p:nvPr/>
        </p:nvSpPr>
        <p:spPr>
          <a:xfrm>
            <a:off x="6596075" y="2932950"/>
            <a:ext cx="274500" cy="26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5700" y="3668341"/>
            <a:ext cx="4632706" cy="585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1"/>
          <p:cNvSpPr/>
          <p:nvPr/>
        </p:nvSpPr>
        <p:spPr>
          <a:xfrm>
            <a:off x="6813500" y="3959450"/>
            <a:ext cx="274500" cy="26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1"/>
          <p:cNvSpPr/>
          <p:nvPr/>
        </p:nvSpPr>
        <p:spPr>
          <a:xfrm>
            <a:off x="7868900" y="3959450"/>
            <a:ext cx="431400" cy="26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0" name="Google Shape;340;p41"/>
          <p:cNvCxnSpPr/>
          <p:nvPr/>
        </p:nvCxnSpPr>
        <p:spPr>
          <a:xfrm>
            <a:off x="2521200" y="3124400"/>
            <a:ext cx="7584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1"/>
          <p:cNvCxnSpPr/>
          <p:nvPr/>
        </p:nvCxnSpPr>
        <p:spPr>
          <a:xfrm flipH="1" rot="10800000">
            <a:off x="2196825" y="4044800"/>
            <a:ext cx="786900" cy="2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41"/>
          <p:cNvCxnSpPr/>
          <p:nvPr/>
        </p:nvCxnSpPr>
        <p:spPr>
          <a:xfrm flipH="1" rot="10800000">
            <a:off x="3078850" y="4045550"/>
            <a:ext cx="843900" cy="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1"/>
          <p:cNvSpPr txBox="1"/>
          <p:nvPr/>
        </p:nvSpPr>
        <p:spPr>
          <a:xfrm>
            <a:off x="353975" y="4356075"/>
            <a:ext cx="1264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§6.7.8/6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4700" y="1052241"/>
            <a:ext cx="3062685" cy="373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UN MAP/DICTIONNAIRE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EN C99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50" name="Google Shape;35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60" y="1420991"/>
            <a:ext cx="2667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2"/>
          <p:cNvSpPr/>
          <p:nvPr/>
        </p:nvSpPr>
        <p:spPr>
          <a:xfrm>
            <a:off x="3424175" y="2954625"/>
            <a:ext cx="1264200" cy="447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7447950" y="1553150"/>
            <a:ext cx="57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2"/>
          <p:cNvSpPr txBox="1"/>
          <p:nvPr/>
        </p:nvSpPr>
        <p:spPr>
          <a:xfrm>
            <a:off x="1856575" y="1856550"/>
            <a:ext cx="1423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 3 (dictionnaire)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25" y="1914750"/>
            <a:ext cx="70294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3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--</a:t>
            </a:r>
            <a:r>
              <a:rPr lang="en">
                <a:solidFill>
                  <a:schemeClr val="dk2"/>
                </a:solidFill>
              </a:rPr>
              <a:t>HELP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60" name="Google Shape;360;p43"/>
          <p:cNvPicPr preferRelativeResize="0"/>
          <p:nvPr/>
        </p:nvPicPr>
        <p:blipFill rotWithShape="1">
          <a:blip r:embed="rId4">
            <a:alphaModFix/>
          </a:blip>
          <a:srcRect b="0" l="0" r="16757" t="0"/>
          <a:stretch/>
        </p:blipFill>
        <p:spPr>
          <a:xfrm>
            <a:off x="4439500" y="1488200"/>
            <a:ext cx="4612201" cy="14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25" y="1921100"/>
            <a:ext cx="6819050" cy="28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4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--HELP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67" name="Google Shape;367;p44"/>
          <p:cNvPicPr preferRelativeResize="0"/>
          <p:nvPr/>
        </p:nvPicPr>
        <p:blipFill rotWithShape="1">
          <a:blip r:embed="rId4">
            <a:alphaModFix/>
          </a:blip>
          <a:srcRect b="0" l="0" r="16757" t="0"/>
          <a:stretch/>
        </p:blipFill>
        <p:spPr>
          <a:xfrm>
            <a:off x="4439500" y="1488200"/>
            <a:ext cx="4612201" cy="14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4"/>
          <p:cNvSpPr txBox="1"/>
          <p:nvPr/>
        </p:nvSpPr>
        <p:spPr>
          <a:xfrm>
            <a:off x="6920050" y="4214100"/>
            <a:ext cx="2223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§6.1.4 (Example)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§6.4.5/7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1589275"/>
            <a:ext cx="5846300" cy="29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--HELP </a:t>
            </a:r>
            <a:r>
              <a:rPr lang="en"/>
              <a:t>(C++)</a:t>
            </a:r>
            <a:endParaRPr/>
          </a:p>
        </p:txBody>
      </p:sp>
      <p:pic>
        <p:nvPicPr>
          <p:cNvPr id="375" name="Google Shape;375;p45"/>
          <p:cNvPicPr preferRelativeResize="0"/>
          <p:nvPr/>
        </p:nvPicPr>
        <p:blipFill rotWithShape="1">
          <a:blip r:embed="rId4">
            <a:alphaModFix/>
          </a:blip>
          <a:srcRect b="0" l="0" r="16757" t="0"/>
          <a:stretch/>
        </p:blipFill>
        <p:spPr>
          <a:xfrm>
            <a:off x="4439500" y="1488200"/>
            <a:ext cx="4612201" cy="14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5"/>
          <p:cNvSpPr txBox="1"/>
          <p:nvPr/>
        </p:nvSpPr>
        <p:spPr>
          <a:xfrm>
            <a:off x="5085700" y="4406650"/>
            <a:ext cx="39660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Cppreference, section “Raw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string literal”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#include</a:t>
            </a:r>
            <a:r>
              <a:rPr lang="en">
                <a:solidFill>
                  <a:schemeClr val="accent1"/>
                </a:solidFill>
              </a:rPr>
              <a:t> &lt;inttypes.h&gt;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82" name="Google Shape;3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50" y="1411414"/>
            <a:ext cx="3568600" cy="23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6"/>
          <p:cNvSpPr/>
          <p:nvPr/>
        </p:nvSpPr>
        <p:spPr>
          <a:xfrm rot="-5400000">
            <a:off x="2994850" y="1599300"/>
            <a:ext cx="352500" cy="2369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6"/>
          <p:cNvSpPr txBox="1"/>
          <p:nvPr/>
        </p:nvSpPr>
        <p:spPr>
          <a:xfrm>
            <a:off x="4536675" y="2326125"/>
            <a:ext cx="41682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int32_t	= unsigned char ? ⇒ %hhu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= unsigned short ? ⇒ %hu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unsigned ? ⇒ %u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  	= unsigned long ? ⇒ %lu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= unsigned long long ? ⇒ %llu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PRIu32 / SCNu32 → bon flag pour printf/scanf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46"/>
          <p:cNvSpPr txBox="1"/>
          <p:nvPr/>
        </p:nvSpPr>
        <p:spPr>
          <a:xfrm>
            <a:off x="207975" y="4322850"/>
            <a:ext cx="1186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§7.8.1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6" name="Google Shape;386;p46"/>
          <p:cNvCxnSpPr/>
          <p:nvPr/>
        </p:nvCxnSpPr>
        <p:spPr>
          <a:xfrm>
            <a:off x="1453600" y="3425300"/>
            <a:ext cx="1090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46"/>
          <p:cNvSpPr txBox="1"/>
          <p:nvPr/>
        </p:nvSpPr>
        <p:spPr>
          <a:xfrm>
            <a:off x="1265800" y="3474750"/>
            <a:ext cx="1466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“%” “u” → “%u”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PETIT</a:t>
            </a:r>
            <a:r>
              <a:rPr lang="en">
                <a:solidFill>
                  <a:schemeClr val="accent1"/>
                </a:solidFill>
              </a:rPr>
              <a:t> PARSEUR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93" name="Google Shape;3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50" y="1055441"/>
            <a:ext cx="3400425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7"/>
          <p:cNvSpPr txBox="1"/>
          <p:nvPr/>
        </p:nvSpPr>
        <p:spPr>
          <a:xfrm>
            <a:off x="4413875" y="1964925"/>
            <a:ext cx="3626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 [-h] [-v] input [-o output]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47"/>
          <p:cNvSpPr/>
          <p:nvPr/>
        </p:nvSpPr>
        <p:spPr>
          <a:xfrm rot="-5400000">
            <a:off x="3525725" y="2646000"/>
            <a:ext cx="342000" cy="1936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4766000" y="3371050"/>
            <a:ext cx="2427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initialisée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3082675" y="3428825"/>
            <a:ext cx="7224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7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47"/>
          <p:cNvSpPr/>
          <p:nvPr/>
        </p:nvSpPr>
        <p:spPr>
          <a:xfrm rot="-5400000">
            <a:off x="3880050" y="3483125"/>
            <a:ext cx="342000" cy="124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47"/>
          <p:cNvSpPr txBox="1"/>
          <p:nvPr/>
        </p:nvSpPr>
        <p:spPr>
          <a:xfrm>
            <a:off x="4824475" y="3949025"/>
            <a:ext cx="30768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Puis on initialise chaque champ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PETIT</a:t>
            </a:r>
            <a:r>
              <a:rPr lang="en">
                <a:solidFill>
                  <a:schemeClr val="accent1"/>
                </a:solidFill>
              </a:rPr>
              <a:t> PARSEUR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05" name="Google Shape;4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216"/>
            <a:ext cx="340042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8"/>
          <p:cNvSpPr/>
          <p:nvPr/>
        </p:nvSpPr>
        <p:spPr>
          <a:xfrm rot="-5400000">
            <a:off x="3700875" y="1571325"/>
            <a:ext cx="556200" cy="85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48"/>
          <p:cNvSpPr txBox="1"/>
          <p:nvPr/>
        </p:nvSpPr>
        <p:spPr>
          <a:xfrm>
            <a:off x="4594475" y="1589275"/>
            <a:ext cx="38577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initialise tout directement, mais peu  lisible (quel false correspond à quoi ?)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8" name="Google Shape;40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26866"/>
            <a:ext cx="340042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8"/>
          <p:cNvSpPr/>
          <p:nvPr/>
        </p:nvSpPr>
        <p:spPr>
          <a:xfrm rot="-5400000">
            <a:off x="3890225" y="3378025"/>
            <a:ext cx="556200" cy="85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48"/>
          <p:cNvSpPr txBox="1"/>
          <p:nvPr/>
        </p:nvSpPr>
        <p:spPr>
          <a:xfrm>
            <a:off x="4783825" y="3511750"/>
            <a:ext cx="38577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initialise tout directement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c’est lisible, on écrit le nom de chaque champ ainsi que sa valeur.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§6.7.8/7 (designated initializer)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MACROS &amp; IDENTIFICATEURS</a:t>
            </a:r>
            <a:r>
              <a:rPr lang="en" sz="3100">
                <a:solidFill>
                  <a:schemeClr val="dk2"/>
                </a:solidFill>
              </a:rPr>
              <a:t> PRÉDÉFINIS</a:t>
            </a:r>
            <a:endParaRPr sz="3100"/>
          </a:p>
        </p:txBody>
      </p:sp>
      <p:pic>
        <p:nvPicPr>
          <p:cNvPr id="416" name="Google Shape;4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226316"/>
            <a:ext cx="424815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9"/>
          <p:cNvSpPr/>
          <p:nvPr/>
        </p:nvSpPr>
        <p:spPr>
          <a:xfrm>
            <a:off x="2226575" y="2497325"/>
            <a:ext cx="25176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4737425" y="1882950"/>
            <a:ext cx="44067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__FILE__ (macro)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chaîne de caractères littérale (entre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guillemets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“”) contenant le nom du fichier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__DATE__* &amp; __TIME__* (macros)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date et heure auxquelles a été compilé le fichier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2226575" y="3759650"/>
            <a:ext cx="25176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0" y="4818600"/>
            <a:ext cx="3471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§6.8.8 // C99 §6.10.8 (macros)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49"/>
          <p:cNvSpPr txBox="1"/>
          <p:nvPr/>
        </p:nvSpPr>
        <p:spPr>
          <a:xfrm>
            <a:off x="3110550" y="4823875"/>
            <a:ext cx="3471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§6.4.2.2 (__func__ uniquement)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49"/>
          <p:cNvSpPr txBox="1"/>
          <p:nvPr/>
        </p:nvSpPr>
        <p:spPr>
          <a:xfrm>
            <a:off x="4737425" y="3377125"/>
            <a:ext cx="44067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__func__ (const char []):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nom de la fonction dans laquelle on se trouve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__LINE__ (macro)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numéro de la ligne à laquelle on se trouve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9"/>
          <p:cNvSpPr txBox="1"/>
          <p:nvPr/>
        </p:nvSpPr>
        <p:spPr>
          <a:xfrm>
            <a:off x="6530900" y="4825425"/>
            <a:ext cx="2613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</a:t>
            </a: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__DATE__, __TIME__ et les locales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0"/>
          <p:cNvSpPr txBox="1"/>
          <p:nvPr>
            <p:ph type="title"/>
          </p:nvPr>
        </p:nvSpPr>
        <p:spPr>
          <a:xfrm>
            <a:off x="541425" y="626325"/>
            <a:ext cx="8259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FONCTION</a:t>
            </a:r>
            <a:r>
              <a:rPr lang="en" sz="3100"/>
              <a:t> DE</a:t>
            </a:r>
            <a:r>
              <a:rPr lang="en" sz="3100">
                <a:solidFill>
                  <a:schemeClr val="dk2"/>
                </a:solidFill>
              </a:rPr>
              <a:t> </a:t>
            </a:r>
            <a:r>
              <a:rPr lang="en" sz="3100"/>
              <a:t>LOG</a:t>
            </a:r>
            <a:endParaRPr sz="3100"/>
          </a:p>
        </p:txBody>
      </p:sp>
      <p:sp>
        <p:nvSpPr>
          <p:cNvPr id="429" name="Google Shape;429;p50"/>
          <p:cNvSpPr/>
          <p:nvPr/>
        </p:nvSpPr>
        <p:spPr>
          <a:xfrm flipH="1" rot="10800000">
            <a:off x="751225" y="3350175"/>
            <a:ext cx="988200" cy="108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50"/>
          <p:cNvSpPr txBox="1"/>
          <p:nvPr/>
        </p:nvSpPr>
        <p:spPr>
          <a:xfrm>
            <a:off x="1712250" y="3871400"/>
            <a:ext cx="48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dans la fonction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log_msg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à la ligne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Bonjour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1" name="Google Shape;4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316"/>
            <a:ext cx="86487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0"/>
          <p:cNvSpPr/>
          <p:nvPr/>
        </p:nvSpPr>
        <p:spPr>
          <a:xfrm>
            <a:off x="304550" y="1874675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50"/>
          <p:cNvSpPr/>
          <p:nvPr/>
        </p:nvSpPr>
        <p:spPr>
          <a:xfrm>
            <a:off x="5365375" y="3969400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4" name="Google Shape;434;p50"/>
          <p:cNvCxnSpPr>
            <a:stCxn id="432" idx="2"/>
            <a:endCxn id="433" idx="0"/>
          </p:cNvCxnSpPr>
          <p:nvPr/>
        </p:nvCxnSpPr>
        <p:spPr>
          <a:xfrm flipH="1" rot="-5400000">
            <a:off x="1977050" y="489725"/>
            <a:ext cx="1898400" cy="5060700"/>
          </a:xfrm>
          <a:prstGeom prst="curvedConnector3">
            <a:avLst>
              <a:gd fmla="val 29958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0"/>
          <p:cNvCxnSpPr>
            <a:stCxn id="433" idx="0"/>
          </p:cNvCxnSpPr>
          <p:nvPr/>
        </p:nvCxnSpPr>
        <p:spPr>
          <a:xfrm flipH="1" rot="10800000">
            <a:off x="5456725" y="3620800"/>
            <a:ext cx="751200" cy="34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50"/>
          <p:cNvSpPr txBox="1"/>
          <p:nvPr/>
        </p:nvSpPr>
        <p:spPr>
          <a:xfrm>
            <a:off x="6294000" y="3147025"/>
            <a:ext cx="25071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appelle la fonction et on s’y déplace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87" y="1285900"/>
            <a:ext cx="8740625" cy="12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1"/>
          <p:cNvSpPr/>
          <p:nvPr/>
        </p:nvSpPr>
        <p:spPr>
          <a:xfrm flipH="1" rot="10800000">
            <a:off x="751225" y="3350175"/>
            <a:ext cx="988200" cy="108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51"/>
          <p:cNvSpPr txBox="1"/>
          <p:nvPr/>
        </p:nvSpPr>
        <p:spPr>
          <a:xfrm>
            <a:off x="1712250" y="3871400"/>
            <a:ext cx="48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dans la fonction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à la ligne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Bonjour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51"/>
          <p:cNvSpPr/>
          <p:nvPr/>
        </p:nvSpPr>
        <p:spPr>
          <a:xfrm>
            <a:off x="240275" y="2172475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51"/>
          <p:cNvSpPr/>
          <p:nvPr/>
        </p:nvSpPr>
        <p:spPr>
          <a:xfrm>
            <a:off x="5027925" y="3969400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51"/>
          <p:cNvCxnSpPr>
            <a:stCxn id="444" idx="2"/>
            <a:endCxn id="445" idx="0"/>
          </p:cNvCxnSpPr>
          <p:nvPr/>
        </p:nvCxnSpPr>
        <p:spPr>
          <a:xfrm flipH="1" rot="-5400000">
            <a:off x="1925075" y="775225"/>
            <a:ext cx="1600800" cy="47877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51"/>
          <p:cNvCxnSpPr>
            <a:stCxn id="445" idx="0"/>
          </p:cNvCxnSpPr>
          <p:nvPr/>
        </p:nvCxnSpPr>
        <p:spPr>
          <a:xfrm flipH="1" rot="10800000">
            <a:off x="5119275" y="3620800"/>
            <a:ext cx="1041000" cy="348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51"/>
          <p:cNvSpPr txBox="1"/>
          <p:nvPr/>
        </p:nvSpPr>
        <p:spPr>
          <a:xfrm>
            <a:off x="6307525" y="3086300"/>
            <a:ext cx="2507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préprocesseur a copié-collé la macro, on ne se déplace pas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51"/>
          <p:cNvSpPr txBox="1"/>
          <p:nvPr>
            <p:ph type="title"/>
          </p:nvPr>
        </p:nvSpPr>
        <p:spPr>
          <a:xfrm>
            <a:off x="541425" y="626325"/>
            <a:ext cx="8259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PLUTÔT UNE </a:t>
            </a:r>
            <a:r>
              <a:rPr lang="en" sz="3100">
                <a:solidFill>
                  <a:schemeClr val="dk2"/>
                </a:solidFill>
              </a:rPr>
              <a:t>MACRO</a:t>
            </a:r>
            <a:r>
              <a:rPr lang="en" sz="3100"/>
              <a:t> DE</a:t>
            </a:r>
            <a:r>
              <a:rPr lang="en" sz="3100">
                <a:solidFill>
                  <a:schemeClr val="dk2"/>
                </a:solidFill>
              </a:rPr>
              <a:t> </a:t>
            </a:r>
            <a:r>
              <a:rPr lang="en" sz="3100"/>
              <a:t>LOG…</a:t>
            </a:r>
            <a:endParaRPr sz="3100"/>
          </a:p>
        </p:txBody>
      </p:sp>
      <p:sp>
        <p:nvSpPr>
          <p:cNvPr id="450" name="Google Shape;450;p51"/>
          <p:cNvSpPr txBox="1"/>
          <p:nvPr/>
        </p:nvSpPr>
        <p:spPr>
          <a:xfrm>
            <a:off x="5413325" y="4455725"/>
            <a:ext cx="3730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Regarder la sortie du préprocesseur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MACRO DE</a:t>
            </a:r>
            <a:r>
              <a:rPr lang="en" sz="3100">
                <a:solidFill>
                  <a:schemeClr val="dk2"/>
                </a:solidFill>
              </a:rPr>
              <a:t> </a:t>
            </a:r>
            <a:r>
              <a:rPr lang="en" sz="3100"/>
              <a:t>LOG -</a:t>
            </a:r>
            <a:r>
              <a:rPr lang="en" sz="3100">
                <a:solidFill>
                  <a:schemeClr val="dk2"/>
                </a:solidFill>
              </a:rPr>
              <a:t> UN PEU DE VARIADIQUE</a:t>
            </a:r>
            <a:endParaRPr sz="3100"/>
          </a:p>
        </p:txBody>
      </p:sp>
      <p:sp>
        <p:nvSpPr>
          <p:cNvPr id="456" name="Google Shape;456;p52"/>
          <p:cNvSpPr/>
          <p:nvPr/>
        </p:nvSpPr>
        <p:spPr>
          <a:xfrm flipH="1" rot="10800000">
            <a:off x="751225" y="3350175"/>
            <a:ext cx="988200" cy="108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52"/>
          <p:cNvSpPr txBox="1"/>
          <p:nvPr/>
        </p:nvSpPr>
        <p:spPr>
          <a:xfrm>
            <a:off x="1683350" y="3893675"/>
            <a:ext cx="6740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 helloworld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dans la fonction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à la ligne 9 : Bonjour j’ai 2 argument(s)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8" name="Google Shape;45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250" y="1226316"/>
            <a:ext cx="6990500" cy="197145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2"/>
          <p:cNvSpPr/>
          <p:nvPr/>
        </p:nvSpPr>
        <p:spPr>
          <a:xfrm rot="-428257">
            <a:off x="3004880" y="1455044"/>
            <a:ext cx="2199545" cy="203169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52"/>
          <p:cNvSpPr txBox="1"/>
          <p:nvPr/>
        </p:nvSpPr>
        <p:spPr>
          <a:xfrm>
            <a:off x="5170600" y="1226325"/>
            <a:ext cx="3174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Macro variadique, C99 §6.10.3/10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52"/>
          <p:cNvSpPr/>
          <p:nvPr/>
        </p:nvSpPr>
        <p:spPr>
          <a:xfrm flipH="1" rot="-10371743">
            <a:off x="2966980" y="2175194"/>
            <a:ext cx="2199545" cy="203169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2"/>
          <p:cNvSpPr txBox="1"/>
          <p:nvPr/>
        </p:nvSpPr>
        <p:spPr>
          <a:xfrm>
            <a:off x="5245025" y="2321350"/>
            <a:ext cx="2355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§6.10.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3/5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§6.10.3.1/2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MEMCPY…</a:t>
            </a:r>
            <a:r>
              <a:rPr lang="en"/>
              <a:t> </a:t>
            </a:r>
            <a:r>
              <a:rPr lang="en"/>
              <a:t>INDÉFINI</a:t>
            </a:r>
            <a:r>
              <a:rPr lang="en"/>
              <a:t> 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68" name="Google Shape;468;p53"/>
          <p:cNvSpPr txBox="1"/>
          <p:nvPr/>
        </p:nvSpPr>
        <p:spPr>
          <a:xfrm>
            <a:off x="473750" y="4196025"/>
            <a:ext cx="2531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§7.11.2.1 (Description)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§7.21.2.1/2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53"/>
          <p:cNvSpPr txBox="1"/>
          <p:nvPr/>
        </p:nvSpPr>
        <p:spPr>
          <a:xfrm>
            <a:off x="3356800" y="4074200"/>
            <a:ext cx="385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Comportement de memcpy sur 6 compilateurs différents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53"/>
          <p:cNvSpPr txBox="1"/>
          <p:nvPr/>
        </p:nvSpPr>
        <p:spPr>
          <a:xfrm>
            <a:off x="473750" y="1543050"/>
            <a:ext cx="4886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Comment déplacer des éléments dans un tableau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Avant : { 0, 1, 2, 3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Après : { 0, 0, 1, 2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1" name="Google Shape;47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5925" y="2230600"/>
            <a:ext cx="45910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3"/>
          <p:cNvSpPr/>
          <p:nvPr/>
        </p:nvSpPr>
        <p:spPr>
          <a:xfrm>
            <a:off x="2619125" y="2795075"/>
            <a:ext cx="1001700" cy="521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53"/>
          <p:cNvSpPr txBox="1"/>
          <p:nvPr/>
        </p:nvSpPr>
        <p:spPr>
          <a:xfrm>
            <a:off x="656475" y="2781425"/>
            <a:ext cx="17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Comportement indéfini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4"/>
          <p:cNvSpPr txBox="1"/>
          <p:nvPr/>
        </p:nvSpPr>
        <p:spPr>
          <a:xfrm>
            <a:off x="596975" y="1617500"/>
            <a:ext cx="80739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(3) memcpy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54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endParaRPr b="1" sz="1100">
              <a:solidFill>
                <a:srgbClr val="FF54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	The </a:t>
            </a:r>
            <a:r>
              <a:rPr b="1" lang="en" sz="1100">
                <a:solidFill>
                  <a:srgbClr val="FF54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memcpy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function copies </a:t>
            </a:r>
            <a:r>
              <a:rPr b="1" lang="en" sz="1100">
                <a:solidFill>
                  <a:srgbClr val="54F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bytes from memory area </a:t>
            </a:r>
            <a:r>
              <a:rPr b="1" lang="en" sz="1100">
                <a:solidFill>
                  <a:srgbClr val="54F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to memory area </a:t>
            </a:r>
            <a:r>
              <a:rPr b="1" lang="en" sz="1100">
                <a:solidFill>
                  <a:srgbClr val="54F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 memory areas must not overlap.  Use </a:t>
            </a:r>
            <a:r>
              <a:rPr b="1" lang="en" sz="1100">
                <a:solidFill>
                  <a:srgbClr val="FF54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memmove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(3) if the memory areas do overlap.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9" name="Google Shape;479;p54"/>
          <p:cNvGraphicFramePr/>
          <p:nvPr/>
        </p:nvGraphicFramePr>
        <p:xfrm>
          <a:off x="1014425" y="29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0" name="Google Shape;480;p54"/>
          <p:cNvSpPr/>
          <p:nvPr/>
        </p:nvSpPr>
        <p:spPr>
          <a:xfrm>
            <a:off x="947475" y="2876300"/>
            <a:ext cx="5481900" cy="629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1" name="Google Shape;481;p54"/>
          <p:cNvCxnSpPr>
            <a:stCxn id="480" idx="1"/>
            <a:endCxn id="482" idx="0"/>
          </p:cNvCxnSpPr>
          <p:nvPr/>
        </p:nvCxnSpPr>
        <p:spPr>
          <a:xfrm flipH="1">
            <a:off x="714075" y="3191000"/>
            <a:ext cx="233400" cy="7410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54"/>
          <p:cNvSpPr txBox="1"/>
          <p:nvPr/>
        </p:nvSpPr>
        <p:spPr>
          <a:xfrm>
            <a:off x="67675" y="3932075"/>
            <a:ext cx="12927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Éléments à copier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54"/>
          <p:cNvSpPr/>
          <p:nvPr/>
        </p:nvSpPr>
        <p:spPr>
          <a:xfrm>
            <a:off x="2824175" y="2774900"/>
            <a:ext cx="5481900" cy="6294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7378175" y="3820525"/>
            <a:ext cx="12927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Destination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5" name="Google Shape;485;p54"/>
          <p:cNvCxnSpPr>
            <a:stCxn id="483" idx="3"/>
            <a:endCxn id="484" idx="0"/>
          </p:cNvCxnSpPr>
          <p:nvPr/>
        </p:nvCxnSpPr>
        <p:spPr>
          <a:xfrm flipH="1">
            <a:off x="8024675" y="3089600"/>
            <a:ext cx="281400" cy="730800"/>
          </a:xfrm>
          <a:prstGeom prst="curvedConnector4">
            <a:avLst>
              <a:gd fmla="val -84622" name="adj1"/>
              <a:gd fmla="val 71540" name="adj2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54"/>
          <p:cNvSpPr/>
          <p:nvPr/>
        </p:nvSpPr>
        <p:spPr>
          <a:xfrm>
            <a:off x="3363525" y="3656275"/>
            <a:ext cx="649800" cy="6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54"/>
          <p:cNvSpPr/>
          <p:nvPr/>
        </p:nvSpPr>
        <p:spPr>
          <a:xfrm>
            <a:off x="5240225" y="3656275"/>
            <a:ext cx="649800" cy="6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54"/>
          <p:cNvSpPr txBox="1"/>
          <p:nvPr/>
        </p:nvSpPr>
        <p:spPr>
          <a:xfrm>
            <a:off x="3502625" y="4392275"/>
            <a:ext cx="2262600" cy="396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Chevauchement</a:t>
            </a:r>
            <a:r>
              <a:rPr lang="en" sz="1800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54"/>
          <p:cNvSpPr/>
          <p:nvPr/>
        </p:nvSpPr>
        <p:spPr>
          <a:xfrm>
            <a:off x="7309175" y="2483775"/>
            <a:ext cx="683700" cy="1488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54"/>
          <p:cNvSpPr/>
          <p:nvPr/>
        </p:nvSpPr>
        <p:spPr>
          <a:xfrm>
            <a:off x="3289025" y="2483775"/>
            <a:ext cx="683700" cy="1692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54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MEMMOVE</a:t>
            </a:r>
            <a:r>
              <a:rPr lang="en"/>
              <a:t> À LA RESCOUSSE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"/>
          <p:cNvSpPr txBox="1"/>
          <p:nvPr/>
        </p:nvSpPr>
        <p:spPr>
          <a:xfrm>
            <a:off x="351925" y="1678400"/>
            <a:ext cx="85749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Résumé de C99 Rationale §7.21.2, à propos des fonctions de copie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fonction de copie doit fonctionner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même si les zones de mémoire se chevauchent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fonction de copie doit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être rapide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(et utiliser efficacement le hardware)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Contradiction ⇒ gérer le chevauchement dégrade les performances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memcpy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la rapidité (ne gère pas le chevauchement)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memmove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la fonctionnalité (gère le chevauchement)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55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MEMMOVE 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POINTEURS</a:t>
            </a:r>
            <a:r>
              <a:rPr lang="en">
                <a:solidFill>
                  <a:schemeClr val="dk2"/>
                </a:solidFill>
              </a:rPr>
              <a:t> RESTREINTS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03" name="Google Shape;50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200" y="1752875"/>
            <a:ext cx="68389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6"/>
          <p:cNvSpPr txBox="1"/>
          <p:nvPr/>
        </p:nvSpPr>
        <p:spPr>
          <a:xfrm>
            <a:off x="507575" y="1373850"/>
            <a:ext cx="1184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§7.11.2.1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56"/>
          <p:cNvSpPr txBox="1"/>
          <p:nvPr/>
        </p:nvSpPr>
        <p:spPr>
          <a:xfrm>
            <a:off x="538200" y="2313175"/>
            <a:ext cx="1228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§7.21.2.1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56"/>
          <p:cNvSpPr/>
          <p:nvPr/>
        </p:nvSpPr>
        <p:spPr>
          <a:xfrm>
            <a:off x="2382250" y="1969425"/>
            <a:ext cx="852900" cy="2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56"/>
          <p:cNvSpPr/>
          <p:nvPr/>
        </p:nvSpPr>
        <p:spPr>
          <a:xfrm>
            <a:off x="4950725" y="1969425"/>
            <a:ext cx="852900" cy="2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56"/>
          <p:cNvSpPr txBox="1"/>
          <p:nvPr/>
        </p:nvSpPr>
        <p:spPr>
          <a:xfrm>
            <a:off x="2118300" y="2788300"/>
            <a:ext cx="42840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pointeur marqué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restrict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doit être le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seul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à accéder à sa zone de mémoire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Sinon comportement indéfini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§6.7.3/7, §6.7.3.1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Objectif: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optimisation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9" name="Google Shape;509;p56"/>
          <p:cNvCxnSpPr>
            <a:stCxn id="506" idx="2"/>
            <a:endCxn id="508" idx="0"/>
          </p:cNvCxnSpPr>
          <p:nvPr/>
        </p:nvCxnSpPr>
        <p:spPr>
          <a:xfrm flipH="1" rot="-5400000">
            <a:off x="3236650" y="1764675"/>
            <a:ext cx="595800" cy="1451700"/>
          </a:xfrm>
          <a:prstGeom prst="curvedConnector3">
            <a:avLst>
              <a:gd fmla="val 4999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56"/>
          <p:cNvCxnSpPr>
            <a:stCxn id="507" idx="2"/>
            <a:endCxn id="508" idx="0"/>
          </p:cNvCxnSpPr>
          <p:nvPr/>
        </p:nvCxnSpPr>
        <p:spPr>
          <a:xfrm rot="5400000">
            <a:off x="4520825" y="1932075"/>
            <a:ext cx="595800" cy="1116900"/>
          </a:xfrm>
          <a:prstGeom prst="curvedConnector3">
            <a:avLst>
              <a:gd fmla="val 4999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56"/>
          <p:cNvSpPr txBox="1"/>
          <p:nvPr/>
        </p:nvSpPr>
        <p:spPr>
          <a:xfrm>
            <a:off x="6832200" y="4031025"/>
            <a:ext cx="2311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 aller plus loin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Wikipédia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>
                <a:solidFill>
                  <a:schemeClr val="dk2"/>
                </a:solidFill>
              </a:rPr>
              <a:t>(STRUCT)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ET LES MATHS…</a:t>
            </a:r>
            <a:endParaRPr/>
          </a:p>
        </p:txBody>
      </p:sp>
      <p:sp>
        <p:nvSpPr>
          <p:cNvPr id="517" name="Google Shape;517;p57"/>
          <p:cNvSpPr/>
          <p:nvPr/>
        </p:nvSpPr>
        <p:spPr>
          <a:xfrm>
            <a:off x="4296650" y="2330034"/>
            <a:ext cx="1015200" cy="75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57"/>
          <p:cNvSpPr txBox="1"/>
          <p:nvPr/>
        </p:nvSpPr>
        <p:spPr>
          <a:xfrm>
            <a:off x="5488025" y="2049775"/>
            <a:ext cx="30489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 = 1 byte(s)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 = 4 byte(s)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 = 8 byte(s)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Donc 1 + 4 = 8 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57"/>
          <p:cNvSpPr txBox="1"/>
          <p:nvPr/>
        </p:nvSpPr>
        <p:spPr>
          <a:xfrm>
            <a:off x="7406450" y="4485525"/>
            <a:ext cx="17376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Dépend du système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20" name="Google Shape;52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225"/>
            <a:ext cx="3991776" cy="343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L’ALIGNEMENT</a:t>
            </a:r>
            <a:r>
              <a:rPr lang="en">
                <a:solidFill>
                  <a:schemeClr val="dk2"/>
                </a:solidFill>
              </a:rPr>
              <a:t> EN MÉMOIRE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26" name="Google Shape;526;p58"/>
          <p:cNvGraphicFramePr/>
          <p:nvPr/>
        </p:nvGraphicFramePr>
        <p:xfrm>
          <a:off x="861525" y="2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899925"/>
                <a:gridCol w="733375"/>
                <a:gridCol w="816650"/>
                <a:gridCol w="816650"/>
                <a:gridCol w="816650"/>
                <a:gridCol w="816650"/>
                <a:gridCol w="816650"/>
                <a:gridCol w="816650"/>
                <a:gridCol w="816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Adresse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Contenu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</a:t>
                      </a:r>
                      <a:r>
                        <a:rPr lang="en"/>
                        <a:t>nt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7" name="Google Shape;527;p58"/>
          <p:cNvSpPr txBox="1"/>
          <p:nvPr/>
        </p:nvSpPr>
        <p:spPr>
          <a:xfrm>
            <a:off x="1093188" y="1668250"/>
            <a:ext cx="3811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s’attend à une structure de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octets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58"/>
          <p:cNvSpPr txBox="1"/>
          <p:nvPr/>
        </p:nvSpPr>
        <p:spPr>
          <a:xfrm rot="5400000">
            <a:off x="6678788" y="889775"/>
            <a:ext cx="611100" cy="24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1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58"/>
          <p:cNvSpPr txBox="1"/>
          <p:nvPr/>
        </p:nvSpPr>
        <p:spPr>
          <a:xfrm>
            <a:off x="6171938" y="1511000"/>
            <a:ext cx="196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Hors de la structure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L’ALIGNEMENT</a:t>
            </a:r>
            <a:r>
              <a:rPr lang="en">
                <a:solidFill>
                  <a:schemeClr val="dk2"/>
                </a:solidFill>
              </a:rPr>
              <a:t> EN MÉMOIRE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5" name="Google Shape;535;p59"/>
          <p:cNvGraphicFramePr/>
          <p:nvPr/>
        </p:nvGraphicFramePr>
        <p:xfrm>
          <a:off x="897125" y="3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899925"/>
                <a:gridCol w="733375"/>
                <a:gridCol w="816650"/>
                <a:gridCol w="816650"/>
                <a:gridCol w="816650"/>
                <a:gridCol w="816650"/>
                <a:gridCol w="816650"/>
                <a:gridCol w="816650"/>
                <a:gridCol w="816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Adresse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Contenu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6" name="Google Shape;536;p59"/>
          <p:cNvSpPr txBox="1"/>
          <p:nvPr/>
        </p:nvSpPr>
        <p:spPr>
          <a:xfrm>
            <a:off x="1093201" y="1668250"/>
            <a:ext cx="39777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réalité, on a une structure de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octets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59"/>
          <p:cNvSpPr txBox="1"/>
          <p:nvPr/>
        </p:nvSpPr>
        <p:spPr>
          <a:xfrm rot="-5400000">
            <a:off x="3447663" y="2903950"/>
            <a:ext cx="611100" cy="24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1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59"/>
          <p:cNvSpPr txBox="1"/>
          <p:nvPr/>
        </p:nvSpPr>
        <p:spPr>
          <a:xfrm>
            <a:off x="897125" y="4274500"/>
            <a:ext cx="5474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octets de padding entre le char et l’int, pour décaler l’int.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Ils sont ajoutés par le compilateur.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59"/>
          <p:cNvSpPr txBox="1"/>
          <p:nvPr/>
        </p:nvSpPr>
        <p:spPr>
          <a:xfrm>
            <a:off x="897125" y="2226150"/>
            <a:ext cx="41739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nt = 4 octets, doit* être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aligné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sur 4 octets.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Il est stocké à une adresse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multiple de 4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59"/>
          <p:cNvSpPr/>
          <p:nvPr/>
        </p:nvSpPr>
        <p:spPr>
          <a:xfrm flipH="1">
            <a:off x="4976025" y="2352800"/>
            <a:ext cx="608700" cy="601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1" name="Google Shape;54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900" y="1355025"/>
            <a:ext cx="231457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9"/>
          <p:cNvSpPr/>
          <p:nvPr/>
        </p:nvSpPr>
        <p:spPr>
          <a:xfrm>
            <a:off x="5431825" y="1668250"/>
            <a:ext cx="647700" cy="1276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59"/>
          <p:cNvSpPr txBox="1"/>
          <p:nvPr/>
        </p:nvSpPr>
        <p:spPr>
          <a:xfrm>
            <a:off x="6245900" y="2473075"/>
            <a:ext cx="2571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Il existe des mots-clefs pour modifier/connaître l’alignement.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59"/>
          <p:cNvSpPr txBox="1"/>
          <p:nvPr/>
        </p:nvSpPr>
        <p:spPr>
          <a:xfrm>
            <a:off x="6939725" y="4443525"/>
            <a:ext cx="22044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Pour plus de détails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0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CHAMPS</a:t>
            </a:r>
            <a:r>
              <a:rPr lang="en">
                <a:solidFill>
                  <a:schemeClr val="dk2"/>
                </a:solidFill>
              </a:rPr>
              <a:t> DE BIT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50" name="Google Shape;550;p60"/>
          <p:cNvPicPr preferRelativeResize="0"/>
          <p:nvPr/>
        </p:nvPicPr>
        <p:blipFill rotWithShape="1">
          <a:blip r:embed="rId3">
            <a:alphaModFix/>
          </a:blip>
          <a:srcRect b="0" l="0" r="11292" t="0"/>
          <a:stretch/>
        </p:blipFill>
        <p:spPr>
          <a:xfrm>
            <a:off x="161975" y="1709250"/>
            <a:ext cx="4085324" cy="15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0"/>
          <p:cNvSpPr txBox="1"/>
          <p:nvPr/>
        </p:nvSpPr>
        <p:spPr>
          <a:xfrm>
            <a:off x="4357625" y="1522875"/>
            <a:ext cx="47076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un champ normal.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un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champ de bits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de 2 bits précisément.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un unsigned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tronqué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à 2 bits au lieu de généralement 32 ou 64 bits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ne peut stocker une valeur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 de 0 à 3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Certaines restrictions s'appliquent aux champs de bits, les principales étant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ne peut pas prendre son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adresse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avec &amp; 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(C89 §6.5.2.1 note de bas de page n°59, C99 §6.7.2.1, note de bas de page n°103)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Ni sa taille avec sizeof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(C89 §6.3.3.4 (</a:t>
            </a:r>
            <a:r>
              <a:rPr i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Constraints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), C99 §6.5.3.4/1)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m est non-signé, donc l’overflow s’applique comme sur un unsigned normal, ça repart de 0. Si m était signé, alors l’overflow causerait un comportement indéfini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60"/>
          <p:cNvSpPr txBox="1"/>
          <p:nvPr/>
        </p:nvSpPr>
        <p:spPr>
          <a:xfrm>
            <a:off x="0" y="4497875"/>
            <a:ext cx="18534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§6.5.2.1, §6.7.2.1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60"/>
          <p:cNvSpPr txBox="1"/>
          <p:nvPr/>
        </p:nvSpPr>
        <p:spPr>
          <a:xfrm>
            <a:off x="1150725" y="1124475"/>
            <a:ext cx="4207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Champ de bit →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bit-field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ou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 anglais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CHAMPS</a:t>
            </a:r>
            <a:r>
              <a:rPr lang="en">
                <a:solidFill>
                  <a:schemeClr val="dk2"/>
                </a:solidFill>
              </a:rPr>
              <a:t> DE BIT </a:t>
            </a:r>
            <a:r>
              <a:rPr lang="en"/>
              <a:t>//</a:t>
            </a:r>
            <a:r>
              <a:rPr lang="en">
                <a:solidFill>
                  <a:schemeClr val="dk2"/>
                </a:solidFill>
              </a:rPr>
              <a:t> &lt;limits.h&gt;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59" name="Google Shape;559;p61"/>
          <p:cNvSpPr txBox="1"/>
          <p:nvPr/>
        </p:nvSpPr>
        <p:spPr>
          <a:xfrm>
            <a:off x="4380525" y="1365425"/>
            <a:ext cx="4615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Usage bas niveau,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 de bits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à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Lire (protocoles réseau, décompression binaire)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Écrire (compression binaire, systèmes embarqués spécifiques)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Nécessaire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fonctionner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Application spécifique, la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valeur maximale d’une donnée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fixe et connue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Ici, coordonnées aux échecs (maximum 8)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Optimisation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(économie de mémoire)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61"/>
          <p:cNvSpPr txBox="1"/>
          <p:nvPr/>
        </p:nvSpPr>
        <p:spPr>
          <a:xfrm>
            <a:off x="217263" y="3617400"/>
            <a:ext cx="33132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Valeur minimale/maximale d’un type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&lt;limits.h&gt; (C89 §5.2.4.2.1, C99 §5.2.4.2.1)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INT_MIN / INT_MAX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UINT_MIN / UINT_MAX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CHAR_MIN / CHAR_MAX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1" name="Google Shape;56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75" y="1635175"/>
            <a:ext cx="34766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1"/>
          <p:cNvSpPr/>
          <p:nvPr/>
        </p:nvSpPr>
        <p:spPr>
          <a:xfrm flipH="1" rot="10800000">
            <a:off x="872700" y="2672100"/>
            <a:ext cx="3392100" cy="94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61"/>
          <p:cNvSpPr txBox="1"/>
          <p:nvPr/>
        </p:nvSpPr>
        <p:spPr>
          <a:xfrm>
            <a:off x="1150725" y="1124475"/>
            <a:ext cx="4207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Champ de bit →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bit-field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ou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 anglais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</a:t>
            </a:r>
            <a:r>
              <a:rPr lang="en">
                <a:solidFill>
                  <a:schemeClr val="dk2"/>
                </a:solidFill>
              </a:rPr>
              <a:t>UNIONS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69" name="Google Shape;569;p62"/>
          <p:cNvSpPr txBox="1"/>
          <p:nvPr/>
        </p:nvSpPr>
        <p:spPr>
          <a:xfrm>
            <a:off x="4553475" y="1430300"/>
            <a:ext cx="4456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Contient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tous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les champs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Prend de l’espace mémoire, mais…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peut lire et écrire dans tous les champs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0" name="Google Shape;5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00" y="1221550"/>
            <a:ext cx="1758275" cy="29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2"/>
          <p:cNvSpPr/>
          <p:nvPr/>
        </p:nvSpPr>
        <p:spPr>
          <a:xfrm>
            <a:off x="2401850" y="1430300"/>
            <a:ext cx="1677300" cy="83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62"/>
          <p:cNvSpPr/>
          <p:nvPr/>
        </p:nvSpPr>
        <p:spPr>
          <a:xfrm>
            <a:off x="2401850" y="3074775"/>
            <a:ext cx="1677300" cy="83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62"/>
          <p:cNvSpPr txBox="1"/>
          <p:nvPr/>
        </p:nvSpPr>
        <p:spPr>
          <a:xfrm>
            <a:off x="4236825" y="2744325"/>
            <a:ext cx="48561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Union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ontient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seul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des champs à la fois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Économie de mémoire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peut écrire dans tous les champs, mais écrase la valeur du dernier champ modifié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peut lire tous les champs, mais seul celui dans lequel on a écrit aura un valeur cohérente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62"/>
          <p:cNvSpPr txBox="1"/>
          <p:nvPr/>
        </p:nvSpPr>
        <p:spPr>
          <a:xfrm>
            <a:off x="356300" y="4503850"/>
            <a:ext cx="7349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union + struct + champs de bits = float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i="1"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type-punning </a:t>
            </a: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explicitement autorisé en C mais indéfini en C++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1072600"/>
            <a:ext cx="2685391" cy="37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3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</a:t>
            </a:r>
            <a:r>
              <a:rPr lang="en">
                <a:solidFill>
                  <a:schemeClr val="dk2"/>
                </a:solidFill>
              </a:rPr>
              <a:t>	UNIONS - ÉTUDE DE </a:t>
            </a:r>
            <a:r>
              <a:rPr lang="en">
                <a:solidFill>
                  <a:schemeClr val="dk2"/>
                </a:solidFill>
              </a:rPr>
              <a:t>(C)SFML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81" name="Google Shape;581;p63"/>
          <p:cNvSpPr txBox="1"/>
          <p:nvPr/>
        </p:nvSpPr>
        <p:spPr>
          <a:xfrm>
            <a:off x="1405500" y="753425"/>
            <a:ext cx="5739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63"/>
          <p:cNvSpPr txBox="1"/>
          <p:nvPr/>
        </p:nvSpPr>
        <p:spPr>
          <a:xfrm>
            <a:off x="1798200" y="1237325"/>
            <a:ext cx="1374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 d’event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63"/>
          <p:cNvSpPr txBox="1"/>
          <p:nvPr/>
        </p:nvSpPr>
        <p:spPr>
          <a:xfrm>
            <a:off x="1633400" y="1612200"/>
            <a:ext cx="573900" cy="19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63"/>
          <p:cNvSpPr txBox="1"/>
          <p:nvPr/>
        </p:nvSpPr>
        <p:spPr>
          <a:xfrm>
            <a:off x="2198525" y="2403075"/>
            <a:ext cx="1586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pour chaque event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63"/>
          <p:cNvSpPr txBox="1"/>
          <p:nvPr/>
        </p:nvSpPr>
        <p:spPr>
          <a:xfrm>
            <a:off x="2598900" y="3217000"/>
            <a:ext cx="573900" cy="1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63"/>
          <p:cNvSpPr txBox="1"/>
          <p:nvPr/>
        </p:nvSpPr>
        <p:spPr>
          <a:xfrm>
            <a:off x="3187950" y="3898525"/>
            <a:ext cx="26358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event, avec un type et une union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63"/>
          <p:cNvSpPr txBox="1"/>
          <p:nvPr/>
        </p:nvSpPr>
        <p:spPr>
          <a:xfrm>
            <a:off x="5053500" y="1519325"/>
            <a:ext cx="36330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Ici, l’union contient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l’unique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structure associée à l’event.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8" name="Google Shape;588;p63"/>
          <p:cNvCxnSpPr>
            <a:stCxn id="586" idx="0"/>
            <a:endCxn id="587" idx="2"/>
          </p:cNvCxnSpPr>
          <p:nvPr/>
        </p:nvCxnSpPr>
        <p:spPr>
          <a:xfrm rot="-5400000">
            <a:off x="4823100" y="1851475"/>
            <a:ext cx="1729800" cy="2364300"/>
          </a:xfrm>
          <a:prstGeom prst="curvedConnector3">
            <a:avLst>
              <a:gd fmla="val 4999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63"/>
          <p:cNvSpPr txBox="1"/>
          <p:nvPr/>
        </p:nvSpPr>
        <p:spPr>
          <a:xfrm>
            <a:off x="6526300" y="3392500"/>
            <a:ext cx="25830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sfEvent original est directement une union et non une struct, car le sfEventType est le 1er champ et chaque structure d’event contient le sfEventType en 1er champ. 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Source : CSFML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4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#</a:t>
            </a:r>
            <a:r>
              <a:rPr lang="en"/>
              <a:t>MACRO</a:t>
            </a:r>
            <a:endParaRPr/>
          </a:p>
        </p:txBody>
      </p:sp>
      <p:pic>
        <p:nvPicPr>
          <p:cNvPr id="595" name="Google Shape;59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197425"/>
            <a:ext cx="56102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4"/>
          <p:cNvSpPr/>
          <p:nvPr/>
        </p:nvSpPr>
        <p:spPr>
          <a:xfrm>
            <a:off x="3416950" y="3164125"/>
            <a:ext cx="339600" cy="24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64"/>
          <p:cNvSpPr txBox="1"/>
          <p:nvPr/>
        </p:nvSpPr>
        <p:spPr>
          <a:xfrm>
            <a:off x="6089850" y="2735750"/>
            <a:ext cx="23301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 x vaut fail()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#x vaut “fail()”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Utile pour debug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8" name="Google Shape;598;p64"/>
          <p:cNvCxnSpPr>
            <a:stCxn id="596" idx="0"/>
            <a:endCxn id="597" idx="0"/>
          </p:cNvCxnSpPr>
          <p:nvPr/>
        </p:nvCxnSpPr>
        <p:spPr>
          <a:xfrm rot="-5400000">
            <a:off x="5206600" y="1115875"/>
            <a:ext cx="428400" cy="3668100"/>
          </a:xfrm>
          <a:prstGeom prst="curvedConnector3">
            <a:avLst>
              <a:gd fmla="val 155579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64"/>
          <p:cNvSpPr txBox="1"/>
          <p:nvPr/>
        </p:nvSpPr>
        <p:spPr>
          <a:xfrm>
            <a:off x="7836300" y="4254925"/>
            <a:ext cx="1307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§6.8.3.2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§6.10.3.2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225"/>
            <a:ext cx="4050025" cy="34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5"/>
          <p:cNvSpPr txBox="1"/>
          <p:nvPr>
            <p:ph type="title"/>
          </p:nvPr>
        </p:nvSpPr>
        <p:spPr>
          <a:xfrm>
            <a:off x="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</a:t>
            </a:r>
            <a:r>
              <a:rPr lang="en">
                <a:solidFill>
                  <a:schemeClr val="dk2"/>
                </a:solidFill>
              </a:rPr>
              <a:t>#</a:t>
            </a:r>
            <a:r>
              <a:rPr lang="en">
                <a:solidFill>
                  <a:schemeClr val="dk2"/>
                </a:solidFill>
              </a:rPr>
              <a:t>#</a:t>
            </a:r>
            <a:r>
              <a:rPr lang="en"/>
              <a:t>MACRO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06" name="Google Shape;606;p65"/>
          <p:cNvSpPr txBox="1"/>
          <p:nvPr/>
        </p:nvSpPr>
        <p:spPr>
          <a:xfrm>
            <a:off x="7836300" y="4254925"/>
            <a:ext cx="1307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§6.8.3.3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§6.10.3.3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65"/>
          <p:cNvSpPr txBox="1"/>
          <p:nvPr/>
        </p:nvSpPr>
        <p:spPr>
          <a:xfrm>
            <a:off x="2290025" y="982450"/>
            <a:ext cx="4263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6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65"/>
          <p:cNvSpPr txBox="1"/>
          <p:nvPr/>
        </p:nvSpPr>
        <p:spPr>
          <a:xfrm>
            <a:off x="2730675" y="1256975"/>
            <a:ext cx="2116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Fonctions pour chaque commande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65"/>
          <p:cNvSpPr txBox="1"/>
          <p:nvPr/>
        </p:nvSpPr>
        <p:spPr>
          <a:xfrm>
            <a:off x="2196800" y="2261100"/>
            <a:ext cx="426300" cy="11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65"/>
          <p:cNvSpPr txBox="1"/>
          <p:nvPr/>
        </p:nvSpPr>
        <p:spPr>
          <a:xfrm>
            <a:off x="2730675" y="2632325"/>
            <a:ext cx="2116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commande = un nom et une fonction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512900" y="3749275"/>
            <a:ext cx="1466400" cy="25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65"/>
          <p:cNvSpPr txBox="1"/>
          <p:nvPr/>
        </p:nvSpPr>
        <p:spPr>
          <a:xfrm>
            <a:off x="5194075" y="2037175"/>
            <a:ext cx="2008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 “start”, cmd_start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3" name="Google Shape;613;p65"/>
          <p:cNvCxnSpPr>
            <a:stCxn id="611" idx="3"/>
            <a:endCxn id="612" idx="2"/>
          </p:cNvCxnSpPr>
          <p:nvPr/>
        </p:nvCxnSpPr>
        <p:spPr>
          <a:xfrm flipH="1" rot="10800000">
            <a:off x="1979300" y="2427325"/>
            <a:ext cx="4218900" cy="14484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65"/>
          <p:cNvSpPr/>
          <p:nvPr/>
        </p:nvSpPr>
        <p:spPr>
          <a:xfrm>
            <a:off x="3019650" y="2080525"/>
            <a:ext cx="989700" cy="2529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6010375" y="2105725"/>
            <a:ext cx="924600" cy="2529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65"/>
          <p:cNvSpPr/>
          <p:nvPr/>
        </p:nvSpPr>
        <p:spPr>
          <a:xfrm>
            <a:off x="4384975" y="2058850"/>
            <a:ext cx="6456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6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C11 - DES MACROS</a:t>
            </a:r>
            <a:r>
              <a:rPr lang="en">
                <a:solidFill>
                  <a:schemeClr val="dk2"/>
                </a:solidFill>
              </a:rPr>
              <a:t> GÉNÉRIQUES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22" name="Google Shape;622;p66"/>
          <p:cNvSpPr txBox="1"/>
          <p:nvPr/>
        </p:nvSpPr>
        <p:spPr>
          <a:xfrm>
            <a:off x="7251300" y="4356075"/>
            <a:ext cx="1892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Pour aller plus loin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66"/>
          <p:cNvSpPr txBox="1"/>
          <p:nvPr/>
        </p:nvSpPr>
        <p:spPr>
          <a:xfrm>
            <a:off x="303400" y="4377750"/>
            <a:ext cx="11775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C11 §6.5.1.1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4" name="Google Shape;62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400" y="1407625"/>
            <a:ext cx="3508282" cy="29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66"/>
          <p:cNvSpPr txBox="1"/>
          <p:nvPr/>
        </p:nvSpPr>
        <p:spPr>
          <a:xfrm>
            <a:off x="4731675" y="2658038"/>
            <a:ext cx="915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Invsqrt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6" name="Google Shape;626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7278" y="2195038"/>
            <a:ext cx="848950" cy="13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66"/>
          <p:cNvSpPr txBox="1"/>
          <p:nvPr/>
        </p:nvSpPr>
        <p:spPr>
          <a:xfrm>
            <a:off x="4731675" y="1695188"/>
            <a:ext cx="4392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Algorithme spécialisé selon le type de flottant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66"/>
          <p:cNvSpPr/>
          <p:nvPr/>
        </p:nvSpPr>
        <p:spPr>
          <a:xfrm>
            <a:off x="3811675" y="1596500"/>
            <a:ext cx="849000" cy="664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66"/>
          <p:cNvSpPr txBox="1"/>
          <p:nvPr/>
        </p:nvSpPr>
        <p:spPr>
          <a:xfrm>
            <a:off x="3236350" y="4356075"/>
            <a:ext cx="2896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Les fonctions de maths sont souvent sales... Enfin optimisées.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66"/>
          <p:cNvSpPr txBox="1"/>
          <p:nvPr/>
        </p:nvSpPr>
        <p:spPr>
          <a:xfrm>
            <a:off x="6935175" y="3648125"/>
            <a:ext cx="2188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#include &lt;tgmath.h&gt;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7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C23 - LA</a:t>
            </a:r>
            <a:r>
              <a:rPr lang="en">
                <a:solidFill>
                  <a:schemeClr val="dk2"/>
                </a:solidFill>
              </a:rPr>
              <a:t> MODERNISATION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36" name="Google Shape;636;p67"/>
          <p:cNvSpPr txBox="1"/>
          <p:nvPr/>
        </p:nvSpPr>
        <p:spPr>
          <a:xfrm>
            <a:off x="1409600" y="1279275"/>
            <a:ext cx="5299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Récapitulatif complet sur cppreference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7" name="Google Shape;63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00" y="1903325"/>
            <a:ext cx="2492775" cy="9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67"/>
          <p:cNvSpPr txBox="1"/>
          <p:nvPr/>
        </p:nvSpPr>
        <p:spPr>
          <a:xfrm>
            <a:off x="240075" y="2902350"/>
            <a:ext cx="2551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Inclusion de fichier binaire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9" name="Google Shape;639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100" y="3484125"/>
            <a:ext cx="298132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7"/>
          <p:cNvSpPr txBox="1"/>
          <p:nvPr/>
        </p:nvSpPr>
        <p:spPr>
          <a:xfrm>
            <a:off x="240075" y="4179450"/>
            <a:ext cx="2980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Entiers au bit près (pas encore de page cppreference)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1" name="Google Shape;641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1625" y="2078025"/>
            <a:ext cx="4992413" cy="31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7"/>
          <p:cNvSpPr txBox="1"/>
          <p:nvPr/>
        </p:nvSpPr>
        <p:spPr>
          <a:xfrm>
            <a:off x="7008350" y="1626450"/>
            <a:ext cx="113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constexpr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</a:t>
            </a:r>
            <a:r>
              <a:rPr lang="en">
                <a:solidFill>
                  <a:schemeClr val="accent1"/>
                </a:solidFill>
              </a:rPr>
              <a:t> BIZARRERIES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9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LES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CLASSIQUES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53" name="Google Shape;65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75" y="2258774"/>
            <a:ext cx="3618700" cy="10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7650" y="4474711"/>
            <a:ext cx="3552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7650" y="2819041"/>
            <a:ext cx="3990975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675" y="1625241"/>
            <a:ext cx="74961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775" y="3626072"/>
            <a:ext cx="2944250" cy="10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9"/>
          <p:cNvSpPr txBox="1"/>
          <p:nvPr/>
        </p:nvSpPr>
        <p:spPr>
          <a:xfrm>
            <a:off x="4941225" y="2391150"/>
            <a:ext cx="23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Abus du préprocesseur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p69"/>
          <p:cNvSpPr txBox="1"/>
          <p:nvPr/>
        </p:nvSpPr>
        <p:spPr>
          <a:xfrm>
            <a:off x="2080525" y="2441725"/>
            <a:ext cx="1928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Variables illisibles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69"/>
          <p:cNvSpPr txBox="1"/>
          <p:nvPr/>
        </p:nvSpPr>
        <p:spPr>
          <a:xfrm>
            <a:off x="1632625" y="4211600"/>
            <a:ext cx="1430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Indentation douteuse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69"/>
          <p:cNvSpPr txBox="1"/>
          <p:nvPr/>
        </p:nvSpPr>
        <p:spPr>
          <a:xfrm>
            <a:off x="512900" y="1271425"/>
            <a:ext cx="16542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 liner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0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LES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DI/TRIGRAPHES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67" name="Google Shape;66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75" y="1301616"/>
            <a:ext cx="46958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13441"/>
            <a:ext cx="46958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4100" y="1533591"/>
            <a:ext cx="3759891" cy="5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4100" y="2594116"/>
            <a:ext cx="33528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70"/>
          <p:cNvSpPr txBox="1"/>
          <p:nvPr/>
        </p:nvSpPr>
        <p:spPr>
          <a:xfrm>
            <a:off x="5384100" y="3670450"/>
            <a:ext cx="3046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Digraphes, C95 §6, C99 §6.4.6/3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70"/>
          <p:cNvSpPr/>
          <p:nvPr/>
        </p:nvSpPr>
        <p:spPr>
          <a:xfrm>
            <a:off x="1478075" y="2444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70"/>
          <p:cNvSpPr/>
          <p:nvPr/>
        </p:nvSpPr>
        <p:spPr>
          <a:xfrm>
            <a:off x="192225" y="1332275"/>
            <a:ext cx="198900" cy="33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934550" y="1875800"/>
            <a:ext cx="7356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70"/>
          <p:cNvSpPr/>
          <p:nvPr/>
        </p:nvSpPr>
        <p:spPr>
          <a:xfrm>
            <a:off x="152400" y="3254425"/>
            <a:ext cx="119400" cy="33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70"/>
          <p:cNvSpPr/>
          <p:nvPr/>
        </p:nvSpPr>
        <p:spPr>
          <a:xfrm>
            <a:off x="901375" y="3779050"/>
            <a:ext cx="4641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70"/>
          <p:cNvSpPr txBox="1"/>
          <p:nvPr/>
        </p:nvSpPr>
        <p:spPr>
          <a:xfrm>
            <a:off x="5726775" y="4308350"/>
            <a:ext cx="3417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Trigraphes retirés en C++17 et en C23 !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 aller plus loin →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N4210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(C++)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N2940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p70"/>
          <p:cNvSpPr txBox="1"/>
          <p:nvPr/>
        </p:nvSpPr>
        <p:spPr>
          <a:xfrm>
            <a:off x="5384100" y="1222200"/>
            <a:ext cx="3759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Trigraphes, C89 §5.2.1.1, C99 §5.2.1.1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1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LES</a:t>
            </a:r>
            <a:r>
              <a:rPr lang="en">
                <a:solidFill>
                  <a:schemeClr val="accent1"/>
                </a:solidFill>
              </a:rPr>
              <a:t> DI/TRIGRAPHES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84" name="Google Shape;684;p71"/>
          <p:cNvSpPr txBox="1"/>
          <p:nvPr/>
        </p:nvSpPr>
        <p:spPr>
          <a:xfrm>
            <a:off x="5726775" y="4308350"/>
            <a:ext cx="3417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Trigraphes retirés en C++17 et en C23 !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 aller plus loin →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N4210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(C++)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N2940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5" name="Google Shape;68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4100" y="1533591"/>
            <a:ext cx="3759891" cy="5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4100" y="2594116"/>
            <a:ext cx="33528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71"/>
          <p:cNvSpPr txBox="1"/>
          <p:nvPr/>
        </p:nvSpPr>
        <p:spPr>
          <a:xfrm>
            <a:off x="5384100" y="1222200"/>
            <a:ext cx="3759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Trigraphes, C89 §5.2.1.1, C99 §5.2.1.1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8" name="Google Shape;688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950" y="1288341"/>
            <a:ext cx="5079301" cy="264711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71"/>
          <p:cNvSpPr txBox="1"/>
          <p:nvPr/>
        </p:nvSpPr>
        <p:spPr>
          <a:xfrm>
            <a:off x="232000" y="4049850"/>
            <a:ext cx="50442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Clavier IBM Model M 1390572 sans les crochets []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1986-1987?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Wikipédia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71"/>
          <p:cNvSpPr txBox="1"/>
          <p:nvPr/>
        </p:nvSpPr>
        <p:spPr>
          <a:xfrm>
            <a:off x="5384100" y="3670450"/>
            <a:ext cx="3046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Digraphes, C95 §6, C99 §6.4.6/3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LES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DI/TRIGRAPHES - </a:t>
            </a:r>
            <a:r>
              <a:rPr lang="en"/>
              <a:t>PIÈGES</a:t>
            </a:r>
            <a:endParaRPr/>
          </a:p>
        </p:txBody>
      </p:sp>
      <p:sp>
        <p:nvSpPr>
          <p:cNvPr id="696" name="Google Shape;696;p72"/>
          <p:cNvSpPr/>
          <p:nvPr/>
        </p:nvSpPr>
        <p:spPr>
          <a:xfrm>
            <a:off x="1950488" y="2961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7" name="Google Shape;69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975" y="1985916"/>
            <a:ext cx="2143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975" y="3964016"/>
            <a:ext cx="2143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838" y="1985916"/>
            <a:ext cx="2143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72"/>
          <p:cNvSpPr/>
          <p:nvPr/>
        </p:nvSpPr>
        <p:spPr>
          <a:xfrm>
            <a:off x="6159363" y="2961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1" name="Google Shape;70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838" y="3964025"/>
            <a:ext cx="2143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72"/>
          <p:cNvSpPr txBox="1"/>
          <p:nvPr/>
        </p:nvSpPr>
        <p:spPr>
          <a:xfrm>
            <a:off x="1396000" y="1418075"/>
            <a:ext cx="2753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Trigraphes =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préprocesseur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72"/>
          <p:cNvSpPr txBox="1"/>
          <p:nvPr/>
        </p:nvSpPr>
        <p:spPr>
          <a:xfrm>
            <a:off x="5461363" y="1418075"/>
            <a:ext cx="2286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igraphes = opérateurs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3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LES</a:t>
            </a:r>
            <a:r>
              <a:rPr lang="en">
                <a:solidFill>
                  <a:schemeClr val="accent1"/>
                </a:solidFill>
              </a:rPr>
              <a:t> DI/TRIGRAPHES - </a:t>
            </a:r>
            <a:r>
              <a:rPr lang="en"/>
              <a:t>PIÈGES</a:t>
            </a:r>
            <a:endParaRPr/>
          </a:p>
        </p:txBody>
      </p:sp>
      <p:sp>
        <p:nvSpPr>
          <p:cNvPr id="709" name="Google Shape;709;p73"/>
          <p:cNvSpPr/>
          <p:nvPr/>
        </p:nvSpPr>
        <p:spPr>
          <a:xfrm>
            <a:off x="921963" y="2993838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73"/>
          <p:cNvSpPr/>
          <p:nvPr/>
        </p:nvSpPr>
        <p:spPr>
          <a:xfrm>
            <a:off x="6159363" y="2961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1" name="Google Shape;711;p73"/>
          <p:cNvSpPr txBox="1"/>
          <p:nvPr/>
        </p:nvSpPr>
        <p:spPr>
          <a:xfrm>
            <a:off x="258500" y="1418075"/>
            <a:ext cx="8444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Trigraphes =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PRÉPROCESSEUR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remplacés dans les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commentaires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chaînes de caractères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2" name="Google Shape;71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575" y="1924013"/>
            <a:ext cx="17430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75" y="3756975"/>
            <a:ext cx="17430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9475" y="3756975"/>
            <a:ext cx="17430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73"/>
          <p:cNvSpPr/>
          <p:nvPr/>
        </p:nvSpPr>
        <p:spPr>
          <a:xfrm>
            <a:off x="2381488" y="2961650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6" name="Google Shape;716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3900" y="3826966"/>
            <a:ext cx="23050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3900" y="2095466"/>
            <a:ext cx="23050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13" y="1787025"/>
            <a:ext cx="33242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74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FONCTIONS </a:t>
            </a:r>
            <a:r>
              <a:rPr lang="en">
                <a:solidFill>
                  <a:schemeClr val="accent1"/>
                </a:solidFill>
              </a:rPr>
              <a:t>K&amp;R</a:t>
            </a:r>
            <a:endParaRPr/>
          </a:p>
        </p:txBody>
      </p:sp>
      <p:sp>
        <p:nvSpPr>
          <p:cNvPr id="724" name="Google Shape;724;p74"/>
          <p:cNvSpPr/>
          <p:nvPr/>
        </p:nvSpPr>
        <p:spPr>
          <a:xfrm>
            <a:off x="6199138" y="31477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74"/>
          <p:cNvSpPr txBox="1"/>
          <p:nvPr/>
        </p:nvSpPr>
        <p:spPr>
          <a:xfrm>
            <a:off x="0" y="4388075"/>
            <a:ext cx="3082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Supprimé en C23 !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N2432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6" name="Google Shape;72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7063" y="1787025"/>
            <a:ext cx="16383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788" y="3975325"/>
            <a:ext cx="2790825" cy="552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8" name="Google Shape;728;p74"/>
          <p:cNvCxnSpPr/>
          <p:nvPr/>
        </p:nvCxnSpPr>
        <p:spPr>
          <a:xfrm>
            <a:off x="647250" y="2034875"/>
            <a:ext cx="298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74"/>
          <p:cNvCxnSpPr/>
          <p:nvPr/>
        </p:nvCxnSpPr>
        <p:spPr>
          <a:xfrm flipH="1" rot="10800000">
            <a:off x="825900" y="3096975"/>
            <a:ext cx="2099700" cy="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74"/>
          <p:cNvSpPr txBox="1"/>
          <p:nvPr/>
        </p:nvSpPr>
        <p:spPr>
          <a:xfrm>
            <a:off x="397700" y="1372050"/>
            <a:ext cx="27909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Déclaration / Prototype K&amp;R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74"/>
          <p:cNvSpPr txBox="1"/>
          <p:nvPr/>
        </p:nvSpPr>
        <p:spPr>
          <a:xfrm>
            <a:off x="5897050" y="1299125"/>
            <a:ext cx="2280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Définition K&amp;R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74"/>
          <p:cNvSpPr txBox="1"/>
          <p:nvPr/>
        </p:nvSpPr>
        <p:spPr>
          <a:xfrm>
            <a:off x="3214300" y="2334925"/>
            <a:ext cx="24816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Valide mais… obsolète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§6.9.4, §6.9.5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§6.11.6, §6.11.7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§Introduction/2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5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COMPTER LES </a:t>
            </a:r>
            <a:r>
              <a:rPr lang="en"/>
              <a:t>VOITURES</a:t>
            </a:r>
            <a:r>
              <a:rPr lang="en">
                <a:solidFill>
                  <a:schemeClr val="dk2"/>
                </a:solidFill>
              </a:rPr>
              <a:t>…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38" name="Google Shape;73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25" y="1258700"/>
            <a:ext cx="4334374" cy="34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75"/>
          <p:cNvSpPr txBox="1"/>
          <p:nvPr/>
        </p:nvSpPr>
        <p:spPr>
          <a:xfrm>
            <a:off x="3048975" y="1258700"/>
            <a:ext cx="15231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 code ne compile pas !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75"/>
          <p:cNvSpPr/>
          <p:nvPr/>
        </p:nvSpPr>
        <p:spPr>
          <a:xfrm>
            <a:off x="1113550" y="2498850"/>
            <a:ext cx="470700" cy="17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75"/>
          <p:cNvSpPr/>
          <p:nvPr/>
        </p:nvSpPr>
        <p:spPr>
          <a:xfrm>
            <a:off x="1504550" y="3592450"/>
            <a:ext cx="470700" cy="17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75"/>
          <p:cNvSpPr/>
          <p:nvPr/>
        </p:nvSpPr>
        <p:spPr>
          <a:xfrm>
            <a:off x="2810275" y="4029850"/>
            <a:ext cx="470700" cy="17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75"/>
          <p:cNvSpPr/>
          <p:nvPr/>
        </p:nvSpPr>
        <p:spPr>
          <a:xfrm rot="-5400000">
            <a:off x="4822860" y="2416625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4" name="Google Shape;744;p75"/>
          <p:cNvSpPr txBox="1"/>
          <p:nvPr/>
        </p:nvSpPr>
        <p:spPr>
          <a:xfrm>
            <a:off x="6107800" y="2765225"/>
            <a:ext cx="2174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uto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un mot-clef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75"/>
          <p:cNvSpPr txBox="1"/>
          <p:nvPr/>
        </p:nvSpPr>
        <p:spPr>
          <a:xfrm>
            <a:off x="4526275" y="4472950"/>
            <a:ext cx="4514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Source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:</a:t>
            </a:r>
            <a:r>
              <a:rPr lang="en" sz="1000"/>
              <a:t>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Une question sur 'auto' que j'ai posé sur StackOverflow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6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UN PEU DE </a:t>
            </a:r>
            <a:r>
              <a:rPr lang="en">
                <a:solidFill>
                  <a:schemeClr val="dk2"/>
                </a:solidFill>
              </a:rPr>
              <a:t>B</a:t>
            </a:r>
            <a:r>
              <a:rPr lang="en"/>
              <a:t>…</a:t>
            </a:r>
            <a:endParaRPr/>
          </a:p>
        </p:txBody>
      </p:sp>
      <p:pic>
        <p:nvPicPr>
          <p:cNvPr id="751" name="Google Shape;75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75" y="2196441"/>
            <a:ext cx="2466975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76"/>
          <p:cNvSpPr txBox="1"/>
          <p:nvPr/>
        </p:nvSpPr>
        <p:spPr>
          <a:xfrm>
            <a:off x="939013" y="1748850"/>
            <a:ext cx="1782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 (1969) →C (1972)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3" name="Google Shape;75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0075" y="2070491"/>
            <a:ext cx="8763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76"/>
          <p:cNvSpPr txBox="1"/>
          <p:nvPr/>
        </p:nvSpPr>
        <p:spPr>
          <a:xfrm>
            <a:off x="3150075" y="2266800"/>
            <a:ext cx="3546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une variable dans la pile (stack), son stockage est dit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matique.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uto existe en C pour des raisons historiques et est inutile depuis longtemps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5" name="Google Shape;755;p76"/>
          <p:cNvCxnSpPr/>
          <p:nvPr/>
        </p:nvCxnSpPr>
        <p:spPr>
          <a:xfrm flipH="1" rot="10800000">
            <a:off x="1995100" y="2823700"/>
            <a:ext cx="3088800" cy="37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56" name="Google Shape;75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0075" y="3728925"/>
            <a:ext cx="12763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76"/>
          <p:cNvSpPr txBox="1"/>
          <p:nvPr/>
        </p:nvSpPr>
        <p:spPr>
          <a:xfrm>
            <a:off x="2107775" y="4381250"/>
            <a:ext cx="6933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Pour aller plus loin →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Une question sur 'auto' que j'ai posé sur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76"/>
          <p:cNvSpPr txBox="1"/>
          <p:nvPr/>
        </p:nvSpPr>
        <p:spPr>
          <a:xfrm>
            <a:off x="43350" y="4413875"/>
            <a:ext cx="1524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Découvrir le B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7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UN DÉTOUR EN </a:t>
            </a:r>
            <a:r>
              <a:rPr lang="en">
                <a:solidFill>
                  <a:schemeClr val="dk2"/>
                </a:solidFill>
              </a:rPr>
              <a:t>C++</a:t>
            </a:r>
            <a:r>
              <a:rPr lang="en"/>
              <a:t> ?</a:t>
            </a:r>
            <a:endParaRPr/>
          </a:p>
        </p:txBody>
      </p:sp>
      <p:pic>
        <p:nvPicPr>
          <p:cNvPr id="764" name="Google Shape;764;p77"/>
          <p:cNvPicPr preferRelativeResize="0"/>
          <p:nvPr/>
        </p:nvPicPr>
        <p:blipFill rotWithShape="1">
          <a:blip r:embed="rId3">
            <a:alphaModFix/>
          </a:blip>
          <a:srcRect b="0" l="0" r="0" t="1816"/>
          <a:stretch/>
        </p:blipFill>
        <p:spPr>
          <a:xfrm>
            <a:off x="262150" y="2237775"/>
            <a:ext cx="2962275" cy="16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77"/>
          <p:cNvSpPr txBox="1"/>
          <p:nvPr/>
        </p:nvSpPr>
        <p:spPr>
          <a:xfrm>
            <a:off x="5976225" y="3989350"/>
            <a:ext cx="2210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Voir sur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CppInsights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6" name="Google Shape;766;p77"/>
          <p:cNvPicPr preferRelativeResize="0"/>
          <p:nvPr/>
        </p:nvPicPr>
        <p:blipFill rotWithShape="1">
          <a:blip r:embed="rId5">
            <a:alphaModFix/>
          </a:blip>
          <a:srcRect b="5213" l="0" r="0" t="0"/>
          <a:stretch/>
        </p:blipFill>
        <p:spPr>
          <a:xfrm>
            <a:off x="5281350" y="2237763"/>
            <a:ext cx="3600450" cy="17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77"/>
          <p:cNvSpPr/>
          <p:nvPr/>
        </p:nvSpPr>
        <p:spPr>
          <a:xfrm rot="-5400000">
            <a:off x="3639535" y="264638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77"/>
          <p:cNvSpPr txBox="1"/>
          <p:nvPr/>
        </p:nvSpPr>
        <p:spPr>
          <a:xfrm>
            <a:off x="1674750" y="1507750"/>
            <a:ext cx="5794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C++11 : déduction de type (</a:t>
            </a:r>
            <a:r>
              <a:rPr i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 inference 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anglais)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77"/>
          <p:cNvSpPr txBox="1"/>
          <p:nvPr/>
        </p:nvSpPr>
        <p:spPr>
          <a:xfrm>
            <a:off x="28900" y="4175475"/>
            <a:ext cx="30123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 aller plus loin: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-"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auto (cppreference)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-"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auto vs decltype (StackOverflow)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8"/>
          <p:cNvSpPr txBox="1"/>
          <p:nvPr>
            <p:ph idx="4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ET EN </a:t>
            </a:r>
            <a:r>
              <a:rPr lang="en">
                <a:solidFill>
                  <a:schemeClr val="dk2"/>
                </a:solidFill>
              </a:rPr>
              <a:t>C</a:t>
            </a:r>
            <a:r>
              <a:rPr lang="en"/>
              <a:t> ?</a:t>
            </a:r>
            <a:endParaRPr/>
          </a:p>
        </p:txBody>
      </p:sp>
      <p:sp>
        <p:nvSpPr>
          <p:cNvPr id="775" name="Google Shape;775;p78"/>
          <p:cNvSpPr txBox="1"/>
          <p:nvPr>
            <p:ph type="title"/>
          </p:nvPr>
        </p:nvSpPr>
        <p:spPr>
          <a:xfrm>
            <a:off x="1082306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C89→C17</a:t>
            </a:r>
            <a:endParaRPr/>
          </a:p>
        </p:txBody>
      </p:sp>
      <p:sp>
        <p:nvSpPr>
          <p:cNvPr id="776" name="Google Shape;776;p78"/>
          <p:cNvSpPr txBox="1"/>
          <p:nvPr>
            <p:ph idx="1" type="subTitle"/>
          </p:nvPr>
        </p:nvSpPr>
        <p:spPr>
          <a:xfrm>
            <a:off x="1082306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r>
              <a:rPr lang="en" sz="1700"/>
              <a:t>uto a le même sens qu’en B</a:t>
            </a:r>
            <a:endParaRPr sz="1700"/>
          </a:p>
        </p:txBody>
      </p:sp>
      <p:sp>
        <p:nvSpPr>
          <p:cNvPr id="777" name="Google Shape;777;p78"/>
          <p:cNvSpPr txBox="1"/>
          <p:nvPr>
            <p:ph idx="2" type="title"/>
          </p:nvPr>
        </p:nvSpPr>
        <p:spPr>
          <a:xfrm>
            <a:off x="5653500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C23</a:t>
            </a:r>
            <a:endParaRPr/>
          </a:p>
        </p:txBody>
      </p:sp>
      <p:sp>
        <p:nvSpPr>
          <p:cNvPr id="778" name="Google Shape;778;p78"/>
          <p:cNvSpPr txBox="1"/>
          <p:nvPr>
            <p:ph idx="3" type="subTitle"/>
          </p:nvPr>
        </p:nvSpPr>
        <p:spPr>
          <a:xfrm>
            <a:off x="5653500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r>
              <a:rPr lang="en" sz="1700"/>
              <a:t>uto s’utilise (presque*) comme en C++</a:t>
            </a:r>
            <a:endParaRPr sz="1700"/>
          </a:p>
        </p:txBody>
      </p:sp>
      <p:sp>
        <p:nvSpPr>
          <p:cNvPr id="779" name="Google Shape;779;p78"/>
          <p:cNvSpPr/>
          <p:nvPr/>
        </p:nvSpPr>
        <p:spPr>
          <a:xfrm>
            <a:off x="1849200" y="1762925"/>
            <a:ext cx="882300" cy="88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78"/>
          <p:cNvSpPr txBox="1"/>
          <p:nvPr/>
        </p:nvSpPr>
        <p:spPr>
          <a:xfrm>
            <a:off x="2041050" y="1822863"/>
            <a:ext cx="4986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b="1" sz="4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81" name="Google Shape;78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652" y="1762926"/>
            <a:ext cx="882299" cy="882278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8"/>
          <p:cNvSpPr txBox="1"/>
          <p:nvPr/>
        </p:nvSpPr>
        <p:spPr>
          <a:xfrm>
            <a:off x="2467850" y="1775125"/>
            <a:ext cx="245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78"/>
          <p:cNvSpPr txBox="1"/>
          <p:nvPr/>
        </p:nvSpPr>
        <p:spPr>
          <a:xfrm>
            <a:off x="0" y="4695850"/>
            <a:ext cx="3831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 n’étant qu’un langage de transition vers le C, il n’a pas de logo officiel.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78"/>
          <p:cNvSpPr txBox="1"/>
          <p:nvPr/>
        </p:nvSpPr>
        <p:spPr>
          <a:xfrm>
            <a:off x="5312400" y="4776700"/>
            <a:ext cx="383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auto en C est dérivé de l’extension GNU __auto_type, moins puissante que le mot-clef auto en C++, voici </a:t>
            </a:r>
            <a:r>
              <a:rPr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quelques différences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et là aussi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9"/>
          <p:cNvSpPr txBox="1"/>
          <p:nvPr/>
        </p:nvSpPr>
        <p:spPr>
          <a:xfrm>
            <a:off x="4949000" y="4031850"/>
            <a:ext cx="4195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§6.3.2.2 (Semantics, paragraphe 2)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C89, §6.5.2 (Constraints, “or no type specifier”)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0" name="Google Shape;790;p7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POURQUOI FAIRE ?</a:t>
            </a:r>
            <a:endParaRPr/>
          </a:p>
        </p:txBody>
      </p:sp>
      <p:pic>
        <p:nvPicPr>
          <p:cNvPr id="791" name="Google Shape;79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350" y="1775358"/>
            <a:ext cx="4384900" cy="7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9"/>
          <p:cNvSpPr txBox="1"/>
          <p:nvPr/>
        </p:nvSpPr>
        <p:spPr>
          <a:xfrm rot="-5400000">
            <a:off x="2320625" y="1786050"/>
            <a:ext cx="339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endParaRPr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79"/>
          <p:cNvSpPr txBox="1"/>
          <p:nvPr/>
        </p:nvSpPr>
        <p:spPr>
          <a:xfrm>
            <a:off x="1849350" y="2814663"/>
            <a:ext cx="458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 en C89 → 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 implicite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Invalide à partir de C99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25" y="1309988"/>
            <a:ext cx="2650069" cy="30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8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POURQUOI FAIRE ?</a:t>
            </a:r>
            <a:endParaRPr/>
          </a:p>
        </p:txBody>
      </p:sp>
      <p:sp>
        <p:nvSpPr>
          <p:cNvPr id="800" name="Google Shape;800;p80"/>
          <p:cNvSpPr txBox="1"/>
          <p:nvPr/>
        </p:nvSpPr>
        <p:spPr>
          <a:xfrm>
            <a:off x="4520700" y="3369875"/>
            <a:ext cx="4623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Même avec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-std=c89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GCC 14.2.0 et Clang 19.1 émettent des avertissements, car certaines de ces fonctionnalités sont aujourd’hui dépréciées et/ou supprimées (mais parfaitement valides en C89).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80"/>
          <p:cNvSpPr/>
          <p:nvPr/>
        </p:nvSpPr>
        <p:spPr>
          <a:xfrm rot="-5400000">
            <a:off x="2414725" y="-151150"/>
            <a:ext cx="369000" cy="3291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80"/>
          <p:cNvSpPr txBox="1"/>
          <p:nvPr/>
        </p:nvSpPr>
        <p:spPr>
          <a:xfrm>
            <a:off x="4348850" y="1194650"/>
            <a:ext cx="39516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f(void) déclare une fonction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Sans argument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 renvoie un 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f() déclare une fonction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Avec un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 inconnu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d’arguments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 renvoie un 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80"/>
          <p:cNvSpPr txBox="1"/>
          <p:nvPr/>
        </p:nvSpPr>
        <p:spPr>
          <a:xfrm>
            <a:off x="0" y="4262975"/>
            <a:ext cx="41439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§6.5.4.3 (Constraints, “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identifier list declares only…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 + note 71)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POURQUOI FAIRE ?</a:t>
            </a:r>
            <a:endParaRPr/>
          </a:p>
        </p:txBody>
      </p:sp>
      <p:pic>
        <p:nvPicPr>
          <p:cNvPr id="809" name="Google Shape;80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50" y="2607529"/>
            <a:ext cx="23050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875" y="2607516"/>
            <a:ext cx="230505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81"/>
          <p:cNvSpPr/>
          <p:nvPr/>
        </p:nvSpPr>
        <p:spPr>
          <a:xfrm rot="-5400000">
            <a:off x="3899610" y="264948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81"/>
          <p:cNvSpPr txBox="1"/>
          <p:nvPr/>
        </p:nvSpPr>
        <p:spPr>
          <a:xfrm>
            <a:off x="2281950" y="1460613"/>
            <a:ext cx="458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 en C89 → int implicite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Invalide à partir de C99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7" name="Google Shape;817;p82"/>
          <p:cNvGraphicFramePr/>
          <p:nvPr/>
        </p:nvGraphicFramePr>
        <p:xfrm>
          <a:off x="41200" y="121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3640625"/>
              </a:tblGrid>
              <a:tr h="9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14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91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8" name="Google Shape;818;p8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DÉCLARE-MOI </a:t>
            </a:r>
            <a:r>
              <a:rPr lang="en">
                <a:solidFill>
                  <a:schemeClr val="dk2"/>
                </a:solidFill>
              </a:rPr>
              <a:t>2 POINTEURS !</a:t>
            </a:r>
            <a:endParaRPr/>
          </a:p>
        </p:txBody>
      </p:sp>
      <p:pic>
        <p:nvPicPr>
          <p:cNvPr id="819" name="Google Shape;81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500" y="1263091"/>
            <a:ext cx="16097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75" y="2294041"/>
            <a:ext cx="16097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2200" y="2245441"/>
            <a:ext cx="160972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82"/>
          <p:cNvSpPr txBox="1"/>
          <p:nvPr/>
        </p:nvSpPr>
        <p:spPr>
          <a:xfrm>
            <a:off x="4470375" y="2510475"/>
            <a:ext cx="991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Correct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3" name="Google Shape;823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338" y="3436188"/>
            <a:ext cx="2038350" cy="67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4" name="Google Shape;824;p82"/>
          <p:cNvCxnSpPr/>
          <p:nvPr/>
        </p:nvCxnSpPr>
        <p:spPr>
          <a:xfrm rot="10800000">
            <a:off x="1858200" y="1205375"/>
            <a:ext cx="0" cy="2142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5" name="Google Shape;825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875" y="1262300"/>
            <a:ext cx="1609725" cy="8754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6" name="Google Shape;826;p82"/>
          <p:cNvGraphicFramePr/>
          <p:nvPr/>
        </p:nvGraphicFramePr>
        <p:xfrm>
          <a:off x="6250425" y="156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2573575"/>
              </a:tblGrid>
              <a:tr h="105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27" name="Google Shape;827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29625" y="1697725"/>
            <a:ext cx="2415175" cy="83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29625" y="2656974"/>
            <a:ext cx="2415186" cy="8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82"/>
          <p:cNvSpPr txBox="1"/>
          <p:nvPr/>
        </p:nvSpPr>
        <p:spPr>
          <a:xfrm>
            <a:off x="6250425" y="3991113"/>
            <a:ext cx="1203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ptr1 = int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ptr2 =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82"/>
          <p:cNvSpPr/>
          <p:nvPr/>
        </p:nvSpPr>
        <p:spPr>
          <a:xfrm rot="10800000">
            <a:off x="7603900" y="3710125"/>
            <a:ext cx="986400" cy="801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82"/>
          <p:cNvSpPr txBox="1"/>
          <p:nvPr/>
        </p:nvSpPr>
        <p:spPr>
          <a:xfrm>
            <a:off x="3628013" y="922075"/>
            <a:ext cx="8526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2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600" y="1450973"/>
            <a:ext cx="3271450" cy="9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83"/>
          <p:cNvSpPr/>
          <p:nvPr/>
        </p:nvSpPr>
        <p:spPr>
          <a:xfrm>
            <a:off x="2809625" y="1458100"/>
            <a:ext cx="3271500" cy="935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38" name="Google Shape;838;p83"/>
          <p:cNvGraphicFramePr/>
          <p:nvPr/>
        </p:nvGraphicFramePr>
        <p:xfrm>
          <a:off x="6250425" y="156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2573575"/>
              </a:tblGrid>
              <a:tr h="105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9" name="Google Shape;839;p83"/>
          <p:cNvSpPr txBox="1"/>
          <p:nvPr/>
        </p:nvSpPr>
        <p:spPr>
          <a:xfrm>
            <a:off x="84725" y="1073925"/>
            <a:ext cx="6839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Réponse courte: le pointeur * s’applique au nom de la variable, et pas à son type.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StackOverflow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8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DÉCLARE-MOI </a:t>
            </a:r>
            <a:r>
              <a:rPr lang="en">
                <a:solidFill>
                  <a:schemeClr val="dk2"/>
                </a:solidFill>
              </a:rPr>
              <a:t>2 POINTEURS !</a:t>
            </a:r>
            <a:endParaRPr/>
          </a:p>
        </p:txBody>
      </p:sp>
      <p:pic>
        <p:nvPicPr>
          <p:cNvPr id="841" name="Google Shape;84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9625" y="1697725"/>
            <a:ext cx="2415175" cy="83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9625" y="2656974"/>
            <a:ext cx="2415186" cy="8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83"/>
          <p:cNvSpPr txBox="1"/>
          <p:nvPr/>
        </p:nvSpPr>
        <p:spPr>
          <a:xfrm>
            <a:off x="6250425" y="3991113"/>
            <a:ext cx="1203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ptr1 = int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ptr2 =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83"/>
          <p:cNvSpPr/>
          <p:nvPr/>
        </p:nvSpPr>
        <p:spPr>
          <a:xfrm rot="10800000">
            <a:off x="7603900" y="3710125"/>
            <a:ext cx="986400" cy="801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83"/>
          <p:cNvSpPr txBox="1"/>
          <p:nvPr/>
        </p:nvSpPr>
        <p:spPr>
          <a:xfrm>
            <a:off x="66425" y="1659225"/>
            <a:ext cx="6079500" cy="3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Réponse longue :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§6.5, C99 §6.7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déclaration est composée de…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 moins un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spécificateur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qui est… :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type (non-pointeur) et/ou… // C89 §6.5.2, C99 §6.7.2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Une classe(s) de stockage) et/ou… // C89 §6.5.1, C99 §6.7.1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qualificateur (const, …) et/ou… // C89 §6.5.3, C99 §6.7.3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spécificateur de fonction (inline) // C99 seulement, C99 §6.7.4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 potentiellement un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déclarateur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ou une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liste de déclarateurs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séparés par une virgule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déclarateur : // C89 §6.5.4, C99 §6.7.5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identificateur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(nom de variable)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 potentiellement…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pointeur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et/ou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tableau</a:t>
            </a:r>
            <a:endParaRPr b="1" sz="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etc..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 peut être initialisé (= valeur) // C89 §6.5.7, C99 §6.7.8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int* ptr1, ptr2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type + pointeur + identificateur, identificateur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Pointeur + identificateur = déclarateur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type + déclarateur, déclarateur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variable type*, variable type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8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UNE STRING </a:t>
            </a:r>
            <a:r>
              <a:rPr lang="en"/>
              <a:t>ENTRE APOSTROPHES  ?</a:t>
            </a:r>
            <a:endParaRPr/>
          </a:p>
        </p:txBody>
      </p:sp>
      <p:pic>
        <p:nvPicPr>
          <p:cNvPr id="851" name="Google Shape;85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38" y="1618713"/>
            <a:ext cx="49720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84"/>
          <p:cNvSpPr/>
          <p:nvPr/>
        </p:nvSpPr>
        <p:spPr>
          <a:xfrm flipH="1" rot="10800000">
            <a:off x="893563" y="2094925"/>
            <a:ext cx="1124700" cy="97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p84"/>
          <p:cNvSpPr txBox="1"/>
          <p:nvPr/>
        </p:nvSpPr>
        <p:spPr>
          <a:xfrm>
            <a:off x="2285488" y="2297250"/>
            <a:ext cx="42693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Plusieurs caractères entre apostrophes → un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avec une valeur dépendante de l’implémentation (“implementation-defined”)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4" name="Google Shape;854;p84"/>
          <p:cNvSpPr txBox="1"/>
          <p:nvPr/>
        </p:nvSpPr>
        <p:spPr>
          <a:xfrm>
            <a:off x="0" y="432140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§6.1.3.4 (Semantics, “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value of an integer character constant containing more than one character [...] is implementation-defined.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§6.4.4.4/10</a:t>
            </a:r>
            <a:endParaRPr sz="1000"/>
          </a:p>
        </p:txBody>
      </p:sp>
      <p:graphicFrame>
        <p:nvGraphicFramePr>
          <p:cNvPr id="855" name="Google Shape;855;p84"/>
          <p:cNvGraphicFramePr/>
          <p:nvPr/>
        </p:nvGraphicFramePr>
        <p:xfrm>
          <a:off x="5643563" y="146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722675"/>
                <a:gridCol w="611100"/>
                <a:gridCol w="591025"/>
                <a:gridCol w="641600"/>
                <a:gridCol w="6416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‘A’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‘B’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‘C’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‘\0’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ASCII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56" name="Google Shape;856;p84"/>
          <p:cNvSpPr/>
          <p:nvPr/>
        </p:nvSpPr>
        <p:spPr>
          <a:xfrm flipH="1" rot="10800000">
            <a:off x="2996438" y="3070225"/>
            <a:ext cx="1124700" cy="97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7" name="Google Shape;857;p84"/>
          <p:cNvSpPr txBox="1"/>
          <p:nvPr/>
        </p:nvSpPr>
        <p:spPr>
          <a:xfrm>
            <a:off x="4430213" y="3093550"/>
            <a:ext cx="35253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Souvent, ‘ABC’ = 0x414243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a aussi souvent un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4 octets et du little endian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‘ABC’ = 0x00434241 → “\0CBA”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8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UNE STRING </a:t>
            </a:r>
            <a:r>
              <a:rPr lang="en"/>
              <a:t>ENTRE APOSTROPHES  ?</a:t>
            </a:r>
            <a:endParaRPr/>
          </a:p>
        </p:txBody>
      </p:sp>
      <p:pic>
        <p:nvPicPr>
          <p:cNvPr id="863" name="Google Shape;86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75" y="1835701"/>
            <a:ext cx="3753500" cy="16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85"/>
          <p:cNvSpPr/>
          <p:nvPr/>
        </p:nvSpPr>
        <p:spPr>
          <a:xfrm rot="-5400000">
            <a:off x="4571460" y="214381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85"/>
          <p:cNvSpPr txBox="1"/>
          <p:nvPr/>
        </p:nvSpPr>
        <p:spPr>
          <a:xfrm>
            <a:off x="6140425" y="2311675"/>
            <a:ext cx="23550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Affiche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salut!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6" name="Google Shape;866;p85"/>
          <p:cNvSpPr txBox="1"/>
          <p:nvPr/>
        </p:nvSpPr>
        <p:spPr>
          <a:xfrm>
            <a:off x="5035150" y="4399425"/>
            <a:ext cx="4108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Même comportement pour 6 compilateurs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85"/>
          <p:cNvSpPr txBox="1"/>
          <p:nvPr/>
        </p:nvSpPr>
        <p:spPr>
          <a:xfrm>
            <a:off x="1147875" y="3402500"/>
            <a:ext cx="19359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 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‘ulas’ → ‘salu’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  ‘!t’ → ‘t!\0\0’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On a “salut!\0\0”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8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UNE STRING </a:t>
            </a:r>
            <a:r>
              <a:rPr lang="en"/>
              <a:t>ENTRE APOSTROPHES  ?</a:t>
            </a:r>
            <a:endParaRPr/>
          </a:p>
        </p:txBody>
      </p:sp>
      <p:sp>
        <p:nvSpPr>
          <p:cNvPr id="873" name="Google Shape;873;p86"/>
          <p:cNvSpPr/>
          <p:nvPr/>
        </p:nvSpPr>
        <p:spPr>
          <a:xfrm rot="-5400000">
            <a:off x="4549810" y="19993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86"/>
          <p:cNvSpPr txBox="1"/>
          <p:nvPr/>
        </p:nvSpPr>
        <p:spPr>
          <a:xfrm>
            <a:off x="6111500" y="2037179"/>
            <a:ext cx="26802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Utiliser switch avec plusieurs caractères à la fois (jusqu’à 4 si un int fait 4 octets).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86"/>
          <p:cNvSpPr txBox="1"/>
          <p:nvPr/>
        </p:nvSpPr>
        <p:spPr>
          <a:xfrm>
            <a:off x="5808000" y="3799775"/>
            <a:ext cx="33360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switch ne peut prendre que des entiers (donc pas de string)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§6.6.4.2 (Constraints)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§6.8.4.2/1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86"/>
          <p:cNvSpPr txBox="1"/>
          <p:nvPr/>
        </p:nvSpPr>
        <p:spPr>
          <a:xfrm>
            <a:off x="0" y="4796675"/>
            <a:ext cx="25590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Test sur les 6 compilateurs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7" name="Google Shape;87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350" y="1118026"/>
            <a:ext cx="2558896" cy="35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86"/>
          <p:cNvSpPr txBox="1"/>
          <p:nvPr/>
        </p:nvSpPr>
        <p:spPr>
          <a:xfrm>
            <a:off x="3156900" y="4818425"/>
            <a:ext cx="2680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Avec des switch imbriqués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UNE STRING </a:t>
            </a:r>
            <a:r>
              <a:rPr lang="en"/>
              <a:t>ENTRE APOSTROPHES  ?</a:t>
            </a:r>
            <a:endParaRPr/>
          </a:p>
        </p:txBody>
      </p:sp>
      <p:sp>
        <p:nvSpPr>
          <p:cNvPr id="884" name="Google Shape;884;p87"/>
          <p:cNvSpPr/>
          <p:nvPr/>
        </p:nvSpPr>
        <p:spPr>
          <a:xfrm rot="-5400000">
            <a:off x="4549810" y="19993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" name="Google Shape;885;p87"/>
          <p:cNvSpPr txBox="1"/>
          <p:nvPr/>
        </p:nvSpPr>
        <p:spPr>
          <a:xfrm>
            <a:off x="5035150" y="4399425"/>
            <a:ext cx="2275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Source (StackOverflow)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6" name="Google Shape;88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250" y="1664265"/>
            <a:ext cx="2855750" cy="18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7"/>
          <p:cNvSpPr txBox="1"/>
          <p:nvPr/>
        </p:nvSpPr>
        <p:spPr>
          <a:xfrm>
            <a:off x="640300" y="3525325"/>
            <a:ext cx="3455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État de l’exécution d’un programme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8" name="Google Shape;888;p87"/>
          <p:cNvSpPr txBox="1"/>
          <p:nvPr/>
        </p:nvSpPr>
        <p:spPr>
          <a:xfrm>
            <a:off x="6111500" y="2037163"/>
            <a:ext cx="26802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Ancienne méthode de debug, lorsqu’on doit lire un dump de la mémoire, la valeur de l’enum est lisible.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(NOT)</a:t>
            </a:r>
            <a:r>
              <a:rPr lang="en"/>
              <a:t> RETURN 0</a:t>
            </a:r>
            <a:endParaRPr/>
          </a:p>
        </p:txBody>
      </p:sp>
      <p:pic>
        <p:nvPicPr>
          <p:cNvPr id="894" name="Google Shape;89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9625" y="1545198"/>
            <a:ext cx="1920491" cy="10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88"/>
          <p:cNvSpPr txBox="1"/>
          <p:nvPr/>
        </p:nvSpPr>
        <p:spPr>
          <a:xfrm>
            <a:off x="1211650" y="1372575"/>
            <a:ext cx="17481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96" name="Google Shape;896;p88"/>
          <p:cNvGraphicFramePr/>
          <p:nvPr/>
        </p:nvGraphicFramePr>
        <p:xfrm>
          <a:off x="329275" y="154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235475"/>
                <a:gridCol w="1235475"/>
                <a:gridCol w="1235475"/>
              </a:tblGrid>
              <a:tr h="9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 et 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Clang 19.1.0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GCC 14.2.0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97" name="Google Shape;897;p88"/>
          <p:cNvCxnSpPr/>
          <p:nvPr/>
        </p:nvCxnSpPr>
        <p:spPr>
          <a:xfrm>
            <a:off x="329275" y="1545200"/>
            <a:ext cx="1233000" cy="9237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88"/>
          <p:cNvSpPr txBox="1"/>
          <p:nvPr/>
        </p:nvSpPr>
        <p:spPr>
          <a:xfrm rot="-1855">
            <a:off x="300783" y="2112793"/>
            <a:ext cx="11121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Compilateur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88"/>
          <p:cNvSpPr txBox="1"/>
          <p:nvPr/>
        </p:nvSpPr>
        <p:spPr>
          <a:xfrm rot="-2486">
            <a:off x="734875" y="1545340"/>
            <a:ext cx="8298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88"/>
          <p:cNvSpPr txBox="1"/>
          <p:nvPr/>
        </p:nvSpPr>
        <p:spPr>
          <a:xfrm>
            <a:off x="4079025" y="2025800"/>
            <a:ext cx="6723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88"/>
          <p:cNvSpPr txBox="1"/>
          <p:nvPr/>
        </p:nvSpPr>
        <p:spPr>
          <a:xfrm>
            <a:off x="4594475" y="2896825"/>
            <a:ext cx="18204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Code de retour de main()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2" name="Google Shape;902;p88"/>
          <p:cNvCxnSpPr/>
          <p:nvPr/>
        </p:nvCxnSpPr>
        <p:spPr>
          <a:xfrm rot="10800000">
            <a:off x="7123000" y="2434500"/>
            <a:ext cx="577800" cy="63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3" name="Google Shape;903;p88"/>
          <p:cNvSpPr txBox="1"/>
          <p:nvPr/>
        </p:nvSpPr>
        <p:spPr>
          <a:xfrm>
            <a:off x="7643025" y="2835425"/>
            <a:ext cx="135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 de return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4" name="Google Shape;904;p88"/>
          <p:cNvSpPr txBox="1"/>
          <p:nvPr/>
        </p:nvSpPr>
        <p:spPr>
          <a:xfrm>
            <a:off x="1675975" y="1968850"/>
            <a:ext cx="10404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Indéfini* !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§5.1.2.2.3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5" name="Google Shape;905;p88"/>
          <p:cNvSpPr txBox="1"/>
          <p:nvPr/>
        </p:nvSpPr>
        <p:spPr>
          <a:xfrm>
            <a:off x="2877500" y="1968850"/>
            <a:ext cx="11121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garanti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§5.1.2.2.3/1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6" name="Google Shape;906;p88"/>
          <p:cNvSpPr txBox="1"/>
          <p:nvPr/>
        </p:nvSpPr>
        <p:spPr>
          <a:xfrm>
            <a:off x="6442975" y="4204600"/>
            <a:ext cx="25218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indéfini, donc ça peut varier à chaque exécution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660" y="2406025"/>
            <a:ext cx="27622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050" y="2391725"/>
            <a:ext cx="27622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8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TABLEAU</a:t>
            </a:r>
            <a:r>
              <a:rPr lang="en"/>
              <a:t>  OU POINTEUR ?</a:t>
            </a:r>
            <a:endParaRPr/>
          </a:p>
        </p:txBody>
      </p:sp>
      <p:cxnSp>
        <p:nvCxnSpPr>
          <p:cNvPr id="914" name="Google Shape;914;p89"/>
          <p:cNvCxnSpPr/>
          <p:nvPr/>
        </p:nvCxnSpPr>
        <p:spPr>
          <a:xfrm>
            <a:off x="5764750" y="2918500"/>
            <a:ext cx="296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89"/>
          <p:cNvCxnSpPr/>
          <p:nvPr/>
        </p:nvCxnSpPr>
        <p:spPr>
          <a:xfrm>
            <a:off x="1756125" y="2918500"/>
            <a:ext cx="296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89"/>
          <p:cNvSpPr/>
          <p:nvPr/>
        </p:nvSpPr>
        <p:spPr>
          <a:xfrm rot="-5400000">
            <a:off x="36684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7" name="Google Shape;917;p89"/>
          <p:cNvSpPr txBox="1"/>
          <p:nvPr/>
        </p:nvSpPr>
        <p:spPr>
          <a:xfrm>
            <a:off x="1439125" y="1437275"/>
            <a:ext cx="65400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Conversion implicite de tableau en pointeur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§6.2.2.1 (paragraphe 3)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§6.3.2.1/3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8" name="Google Shape;918;p89"/>
          <p:cNvSpPr txBox="1"/>
          <p:nvPr/>
        </p:nvSpPr>
        <p:spPr>
          <a:xfrm>
            <a:off x="7244700" y="3033975"/>
            <a:ext cx="1899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Pointeur implicite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89"/>
          <p:cNvSpPr/>
          <p:nvPr/>
        </p:nvSpPr>
        <p:spPr>
          <a:xfrm rot="6798073">
            <a:off x="6791680" y="2702144"/>
            <a:ext cx="263926" cy="71425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p89"/>
          <p:cNvSpPr txBox="1"/>
          <p:nvPr/>
        </p:nvSpPr>
        <p:spPr>
          <a:xfrm>
            <a:off x="209250" y="4372450"/>
            <a:ext cx="30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Même chose pour “int array[]”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75" y="2403475"/>
            <a:ext cx="27622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935" y="2403475"/>
            <a:ext cx="27622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9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PETIT TOUR DANS LES </a:t>
            </a:r>
            <a:r>
              <a:rPr lang="en" sz="3400">
                <a:solidFill>
                  <a:schemeClr val="dk2"/>
                </a:solidFill>
              </a:rPr>
              <a:t>CROCHETS</a:t>
            </a:r>
            <a:endParaRPr sz="3400"/>
          </a:p>
        </p:txBody>
      </p:sp>
      <p:sp>
        <p:nvSpPr>
          <p:cNvPr id="928" name="Google Shape;928;p90"/>
          <p:cNvSpPr/>
          <p:nvPr/>
        </p:nvSpPr>
        <p:spPr>
          <a:xfrm rot="-5400000">
            <a:off x="36973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9" name="Google Shape;929;p90"/>
          <p:cNvCxnSpPr/>
          <p:nvPr/>
        </p:nvCxnSpPr>
        <p:spPr>
          <a:xfrm>
            <a:off x="1929525" y="2925725"/>
            <a:ext cx="490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90"/>
          <p:cNvCxnSpPr/>
          <p:nvPr/>
        </p:nvCxnSpPr>
        <p:spPr>
          <a:xfrm>
            <a:off x="6118750" y="2925725"/>
            <a:ext cx="4197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90"/>
          <p:cNvSpPr txBox="1"/>
          <p:nvPr/>
        </p:nvSpPr>
        <p:spPr>
          <a:xfrm>
            <a:off x="1841225" y="1459250"/>
            <a:ext cx="4746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[const] → qualificateur sur le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pointeur implicite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2" name="Google Shape;932;p90"/>
          <p:cNvSpPr txBox="1"/>
          <p:nvPr/>
        </p:nvSpPr>
        <p:spPr>
          <a:xfrm>
            <a:off x="6659875" y="3032750"/>
            <a:ext cx="1981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 compile pas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35" y="1706450"/>
            <a:ext cx="35433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9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PETIT TOUR DANS LES </a:t>
            </a:r>
            <a:r>
              <a:rPr lang="en" sz="3400">
                <a:solidFill>
                  <a:schemeClr val="dk2"/>
                </a:solidFill>
              </a:rPr>
              <a:t>CROCHETS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9" name="Google Shape;939;p91"/>
          <p:cNvSpPr txBox="1"/>
          <p:nvPr/>
        </p:nvSpPr>
        <p:spPr>
          <a:xfrm>
            <a:off x="2562825" y="1313975"/>
            <a:ext cx="59865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[static n] → indication sur la taille minimale attendue du tableau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§6.7.5.3/7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91"/>
          <p:cNvSpPr txBox="1"/>
          <p:nvPr/>
        </p:nvSpPr>
        <p:spPr>
          <a:xfrm>
            <a:off x="200125" y="3706700"/>
            <a:ext cx="40356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tatic 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Tableau d’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 moins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 éléments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Comportement indéfini si NULL ou moins de N éléments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1" name="Google Shape;94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885" y="2009775"/>
            <a:ext cx="35052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91"/>
          <p:cNvSpPr txBox="1"/>
          <p:nvPr/>
        </p:nvSpPr>
        <p:spPr>
          <a:xfrm>
            <a:off x="5468875" y="3331450"/>
            <a:ext cx="337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 compile pas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static autorisé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uniquement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dans les paramètres de fonctions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TABLEAU…</a:t>
            </a:r>
            <a:r>
              <a:rPr lang="en" sz="3400"/>
              <a:t> </a:t>
            </a:r>
            <a:r>
              <a:rPr lang="en" sz="3400">
                <a:solidFill>
                  <a:schemeClr val="dk2"/>
                </a:solidFill>
              </a:rPr>
              <a:t>SANS TAILLE 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8" name="Google Shape;948;p92"/>
          <p:cNvSpPr/>
          <p:nvPr/>
        </p:nvSpPr>
        <p:spPr>
          <a:xfrm rot="-5400000">
            <a:off x="36973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92"/>
          <p:cNvSpPr txBox="1"/>
          <p:nvPr/>
        </p:nvSpPr>
        <p:spPr>
          <a:xfrm>
            <a:off x="384450" y="4464150"/>
            <a:ext cx="1217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§6.9.2/5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0" name="Google Shape;95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48" y="2358125"/>
            <a:ext cx="3066975" cy="18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325" y="2393575"/>
            <a:ext cx="3066975" cy="18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92"/>
          <p:cNvSpPr/>
          <p:nvPr/>
        </p:nvSpPr>
        <p:spPr>
          <a:xfrm rot="10800000">
            <a:off x="1459900" y="2131800"/>
            <a:ext cx="1653300" cy="118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92"/>
          <p:cNvSpPr txBox="1"/>
          <p:nvPr/>
        </p:nvSpPr>
        <p:spPr>
          <a:xfrm>
            <a:off x="2219825" y="1804200"/>
            <a:ext cx="1380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 de taille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25" y="2167028"/>
            <a:ext cx="2947300" cy="1819706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9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TABLEAU… </a:t>
            </a:r>
            <a:r>
              <a:rPr lang="en" sz="3400">
                <a:solidFill>
                  <a:schemeClr val="dk2"/>
                </a:solidFill>
              </a:rPr>
              <a:t>SANS TAILLE 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0" name="Google Shape;960;p93"/>
          <p:cNvSpPr/>
          <p:nvPr/>
        </p:nvSpPr>
        <p:spPr>
          <a:xfrm rot="-5400000">
            <a:off x="36973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93"/>
          <p:cNvSpPr/>
          <p:nvPr/>
        </p:nvSpPr>
        <p:spPr>
          <a:xfrm rot="10800000">
            <a:off x="1766500" y="2226550"/>
            <a:ext cx="1285800" cy="118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2" name="Google Shape;962;p93"/>
          <p:cNvSpPr txBox="1"/>
          <p:nvPr/>
        </p:nvSpPr>
        <p:spPr>
          <a:xfrm>
            <a:off x="2219825" y="1804200"/>
            <a:ext cx="1380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 de taille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93"/>
          <p:cNvSpPr txBox="1"/>
          <p:nvPr/>
        </p:nvSpPr>
        <p:spPr>
          <a:xfrm>
            <a:off x="5035225" y="2911375"/>
            <a:ext cx="30117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N’est pas une variable globale*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ne compile pas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4" name="Google Shape;964;p93"/>
          <p:cNvSpPr txBox="1"/>
          <p:nvPr/>
        </p:nvSpPr>
        <p:spPr>
          <a:xfrm>
            <a:off x="384450" y="4464150"/>
            <a:ext cx="3337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Notion de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“file scope”, C99 §6.9.2/1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TABLEAU… </a:t>
            </a:r>
            <a:r>
              <a:rPr lang="en" sz="3400">
                <a:solidFill>
                  <a:schemeClr val="dk2"/>
                </a:solidFill>
              </a:rPr>
              <a:t>SANS TAILLE ?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70" name="Google Shape;97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0" y="1463591"/>
            <a:ext cx="203835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00" y="3211291"/>
            <a:ext cx="20383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94"/>
          <p:cNvSpPr/>
          <p:nvPr/>
        </p:nvSpPr>
        <p:spPr>
          <a:xfrm rot="-5400000">
            <a:off x="2443675" y="1618875"/>
            <a:ext cx="696600" cy="973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3" name="Google Shape;97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0950" y="1474800"/>
            <a:ext cx="4627951" cy="126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698" y="3389925"/>
            <a:ext cx="6634299" cy="11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94"/>
          <p:cNvSpPr/>
          <p:nvPr/>
        </p:nvSpPr>
        <p:spPr>
          <a:xfrm rot="-5400000">
            <a:off x="1969250" y="3602049"/>
            <a:ext cx="490800" cy="59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94"/>
          <p:cNvSpPr txBox="1"/>
          <p:nvPr/>
        </p:nvSpPr>
        <p:spPr>
          <a:xfrm>
            <a:off x="6501600" y="4318500"/>
            <a:ext cx="26424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Pour aller plus loin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Pour aller plus loin (2)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Avantages et inconvénients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7" name="Google Shape;977;p94"/>
          <p:cNvSpPr txBox="1"/>
          <p:nvPr/>
        </p:nvSpPr>
        <p:spPr>
          <a:xfrm>
            <a:off x="6005150" y="2839238"/>
            <a:ext cx="183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Optimisation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8" name="Google Shape;978;p94"/>
          <p:cNvSpPr txBox="1"/>
          <p:nvPr/>
        </p:nvSpPr>
        <p:spPr>
          <a:xfrm>
            <a:off x="0" y="4809700"/>
            <a:ext cx="37680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§6.7.2.1/16 : “Flexible Array Member”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9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TABLEAU… </a:t>
            </a:r>
            <a:r>
              <a:rPr lang="en" sz="3400">
                <a:solidFill>
                  <a:schemeClr val="dk2"/>
                </a:solidFill>
              </a:rPr>
              <a:t>SANS TAILLE 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84" name="Google Shape;984;p95"/>
          <p:cNvSpPr/>
          <p:nvPr/>
        </p:nvSpPr>
        <p:spPr>
          <a:xfrm rot="-5400000">
            <a:off x="4116700" y="2069126"/>
            <a:ext cx="997200" cy="1380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95"/>
          <p:cNvSpPr txBox="1"/>
          <p:nvPr/>
        </p:nvSpPr>
        <p:spPr>
          <a:xfrm>
            <a:off x="0" y="4809700"/>
            <a:ext cx="24258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§6.7.2.1/17, §6.7.2.1/20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6" name="Google Shape;98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50" y="1198541"/>
            <a:ext cx="34480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95"/>
          <p:cNvSpPr txBox="1"/>
          <p:nvPr/>
        </p:nvSpPr>
        <p:spPr>
          <a:xfrm>
            <a:off x="5578675" y="2371075"/>
            <a:ext cx="28593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 compile pas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Impossible d’initialiser un “flexible array member”.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96"/>
          <p:cNvSpPr txBox="1"/>
          <p:nvPr/>
        </p:nvSpPr>
        <p:spPr>
          <a:xfrm>
            <a:off x="5472325" y="1237650"/>
            <a:ext cx="3693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Macro NULL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définie dans les en-têtes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9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POINTEURS</a:t>
            </a:r>
            <a:r>
              <a:rPr lang="en">
                <a:solidFill>
                  <a:schemeClr val="dk2"/>
                </a:solidFill>
              </a:rPr>
              <a:t> NUL(L)S</a:t>
            </a:r>
            <a:endParaRPr/>
          </a:p>
        </p:txBody>
      </p:sp>
      <p:sp>
        <p:nvSpPr>
          <p:cNvPr id="994" name="Google Shape;994;p96"/>
          <p:cNvSpPr txBox="1"/>
          <p:nvPr/>
        </p:nvSpPr>
        <p:spPr>
          <a:xfrm>
            <a:off x="0" y="1367075"/>
            <a:ext cx="54507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n’est pas </a:t>
            </a:r>
            <a:r>
              <a:rPr b="1"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forcément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égal à 0 en binaire…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C89 §7.1.6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C99 §7.17/3 (“implementation-defined”)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Sur certaines vieilles machines, </a:t>
            </a:r>
            <a:r>
              <a:rPr b="1"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NULL</a:t>
            </a: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 n’est pas 0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5" name="Google Shape;995;p96"/>
          <p:cNvSpPr txBox="1"/>
          <p:nvPr/>
        </p:nvSpPr>
        <p:spPr>
          <a:xfrm>
            <a:off x="6720400" y="4811875"/>
            <a:ext cx="2423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POSIX exige que NULL soit (void*)0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96"/>
          <p:cNvSpPr txBox="1"/>
          <p:nvPr/>
        </p:nvSpPr>
        <p:spPr>
          <a:xfrm>
            <a:off x="0" y="2277875"/>
            <a:ext cx="5450700" cy="1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Mais doit faire comme si c’était 0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Donc les opérateurs ==, != etc.. se comportent comme     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avec un “vrai” 0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0 est un pointeur nul (C99, §6.3.2.3/3)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Du coup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peut être 0, 0x00, (void*)0, 0L….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(NULL) → if (NULL != 0)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96"/>
          <p:cNvSpPr txBox="1"/>
          <p:nvPr/>
        </p:nvSpPr>
        <p:spPr>
          <a:xfrm>
            <a:off x="21600" y="3595775"/>
            <a:ext cx="36933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Donc c’est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portable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faire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(ptr) → if (ptr != NULL)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(!ptr) → if (!(ptr == NULL))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98" name="Google Shape;998;p96"/>
          <p:cNvGraphicFramePr/>
          <p:nvPr/>
        </p:nvGraphicFramePr>
        <p:xfrm>
          <a:off x="5663463" y="164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103675"/>
                <a:gridCol w="1103675"/>
                <a:gridCol w="1103675"/>
              </a:tblGrid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En-tête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&lt;locale.h&gt;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§7.11/3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&lt;stddef.h&gt;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§7.17/3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&lt;stdio.h&gt;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§7.9.1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§7.19.1/3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&lt;stdlib.h&gt;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§7.20/3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&lt;string.h&gt;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§7.11.1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§7.21.1/1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&lt;time.h&gt;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§7.12.1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§7.23.1/2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&lt;wchar.h&gt;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N’existe pas !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§7.24.1/3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9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TABLEAUX </a:t>
            </a:r>
            <a:r>
              <a:rPr lang="en">
                <a:solidFill>
                  <a:schemeClr val="dk2"/>
                </a:solidFill>
              </a:rPr>
              <a:t>ANONYMES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04" name="Google Shape;1004;p97"/>
          <p:cNvSpPr txBox="1"/>
          <p:nvPr/>
        </p:nvSpPr>
        <p:spPr>
          <a:xfrm>
            <a:off x="7400100" y="4198700"/>
            <a:ext cx="1743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5" name="Google Shape;100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75" y="1160391"/>
            <a:ext cx="53340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75" y="3943141"/>
            <a:ext cx="61341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97"/>
          <p:cNvSpPr txBox="1"/>
          <p:nvPr/>
        </p:nvSpPr>
        <p:spPr>
          <a:xfrm>
            <a:off x="5496100" y="1518500"/>
            <a:ext cx="3648000" cy="19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Littéral composé” (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Compound literal)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(const char*[]){“hello”, “world”}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Variable anonyme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type const char* []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Contenant 2 éléments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“hello” et “world”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9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STRUCTURES </a:t>
            </a:r>
            <a:r>
              <a:rPr lang="en">
                <a:solidFill>
                  <a:schemeClr val="dk2"/>
                </a:solidFill>
              </a:rPr>
              <a:t>ANONYMES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3" name="Google Shape;1013;p98"/>
          <p:cNvSpPr txBox="1"/>
          <p:nvPr/>
        </p:nvSpPr>
        <p:spPr>
          <a:xfrm>
            <a:off x="7400100" y="4198700"/>
            <a:ext cx="1743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4" name="Google Shape;101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325"/>
            <a:ext cx="5425249" cy="3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024" y="1358191"/>
            <a:ext cx="3261551" cy="1295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8"/>
          <p:cNvSpPr txBox="1"/>
          <p:nvPr/>
        </p:nvSpPr>
        <p:spPr>
          <a:xfrm>
            <a:off x="5704925" y="2848350"/>
            <a:ext cx="3055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Littéral composé =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lvalue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On peut prendre son adresse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</a:t>
            </a:r>
            <a:r>
              <a:rPr lang="en">
                <a:solidFill>
                  <a:schemeClr val="dk2"/>
                </a:solidFill>
              </a:rPr>
              <a:t>ANONYMES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2" name="Google Shape;1022;p99"/>
          <p:cNvSpPr txBox="1"/>
          <p:nvPr/>
        </p:nvSpPr>
        <p:spPr>
          <a:xfrm>
            <a:off x="7400100" y="4198700"/>
            <a:ext cx="1743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3" name="Google Shape;1023;p99"/>
          <p:cNvSpPr txBox="1"/>
          <p:nvPr/>
        </p:nvSpPr>
        <p:spPr>
          <a:xfrm>
            <a:off x="5534800" y="1654150"/>
            <a:ext cx="30555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Fonctionne aussi pour les types simples (non tableaux ni structures)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4" name="Google Shape;102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25" y="1434404"/>
            <a:ext cx="30003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99"/>
          <p:cNvSpPr/>
          <p:nvPr/>
        </p:nvSpPr>
        <p:spPr>
          <a:xfrm rot="-5400000">
            <a:off x="3986110" y="15140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6" name="Google Shape;1026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775" y="2858099"/>
            <a:ext cx="3139730" cy="12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99"/>
          <p:cNvSpPr/>
          <p:nvPr/>
        </p:nvSpPr>
        <p:spPr>
          <a:xfrm rot="-5400000">
            <a:off x="3986110" y="290491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8" name="Google Shape;1028;p99"/>
          <p:cNvSpPr txBox="1"/>
          <p:nvPr/>
        </p:nvSpPr>
        <p:spPr>
          <a:xfrm>
            <a:off x="5302600" y="3098975"/>
            <a:ext cx="36978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(int){0} est une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lvalue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(“une variable”), donc on peut lui assigner une valeur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0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</a:t>
            </a:r>
            <a:r>
              <a:rPr lang="en">
                <a:solidFill>
                  <a:schemeClr val="dk2"/>
                </a:solidFill>
              </a:rPr>
              <a:t>CONDITIONS</a:t>
            </a:r>
            <a:endParaRPr/>
          </a:p>
        </p:txBody>
      </p:sp>
      <p:sp>
        <p:nvSpPr>
          <p:cNvPr id="1034" name="Google Shape;1034;p100"/>
          <p:cNvSpPr txBox="1"/>
          <p:nvPr/>
        </p:nvSpPr>
        <p:spPr>
          <a:xfrm>
            <a:off x="3565325" y="1440100"/>
            <a:ext cx="25797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§6.6.5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§6.8.5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hile (x) s’exécute si x ≠ 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Même chose pour if et for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5" name="Google Shape;103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25" y="1233091"/>
            <a:ext cx="30956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00"/>
          <p:cNvSpPr txBox="1"/>
          <p:nvPr/>
        </p:nvSpPr>
        <p:spPr>
          <a:xfrm>
            <a:off x="2909375" y="4202875"/>
            <a:ext cx="389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Voir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“LES POINTEURS NUL(L)S”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7" name="Google Shape;1037;p100"/>
          <p:cNvSpPr/>
          <p:nvPr/>
        </p:nvSpPr>
        <p:spPr>
          <a:xfrm>
            <a:off x="2158925" y="4236625"/>
            <a:ext cx="582000" cy="324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0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</a:t>
            </a:r>
            <a:r>
              <a:rPr lang="en">
                <a:solidFill>
                  <a:schemeClr val="dk2"/>
                </a:solidFill>
              </a:rPr>
              <a:t>CONDITIONS</a:t>
            </a:r>
            <a:endParaRPr/>
          </a:p>
        </p:txBody>
      </p:sp>
      <p:pic>
        <p:nvPicPr>
          <p:cNvPr id="1043" name="Google Shape;104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00" y="1904991"/>
            <a:ext cx="21050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101"/>
          <p:cNvSpPr txBox="1"/>
          <p:nvPr/>
        </p:nvSpPr>
        <p:spPr>
          <a:xfrm>
            <a:off x="6255900" y="1424550"/>
            <a:ext cx="2888100" cy="27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“TABLEAUX ANONYMES”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(char[]){0} est un tableau de char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5"/>
              </a:rPr>
              <a:t>Slide “TABLEAU  OU POINTEUR ?”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qui se convertit en un char*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tableau a une durée de vie statique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C99 §6.5.2.5/9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5" name="Google Shape;1045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6175" y="1585916"/>
            <a:ext cx="23526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01"/>
          <p:cNvSpPr/>
          <p:nvPr/>
        </p:nvSpPr>
        <p:spPr>
          <a:xfrm rot="-5400000">
            <a:off x="2867025" y="2089198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0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</a:t>
            </a:r>
            <a:r>
              <a:rPr lang="en"/>
              <a:t> … ELSE</a:t>
            </a:r>
            <a:endParaRPr/>
          </a:p>
        </p:txBody>
      </p:sp>
      <p:pic>
        <p:nvPicPr>
          <p:cNvPr id="1052" name="Google Shape;105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900" y="1836576"/>
            <a:ext cx="3787600" cy="169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102"/>
          <p:cNvSpPr txBox="1"/>
          <p:nvPr/>
        </p:nvSpPr>
        <p:spPr>
          <a:xfrm>
            <a:off x="3834625" y="1983000"/>
            <a:ext cx="845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≠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4" name="Google Shape;105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25" y="1525325"/>
            <a:ext cx="3675000" cy="228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0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 … ELSE</a:t>
            </a:r>
            <a:endParaRPr/>
          </a:p>
        </p:txBody>
      </p:sp>
      <p:pic>
        <p:nvPicPr>
          <p:cNvPr id="1060" name="Google Shape;106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00" y="1424413"/>
            <a:ext cx="3689675" cy="22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103"/>
          <p:cNvSpPr txBox="1"/>
          <p:nvPr/>
        </p:nvSpPr>
        <p:spPr>
          <a:xfrm>
            <a:off x="4767850" y="1535075"/>
            <a:ext cx="36555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Affiche “No argument”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Passe au “case 2”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Affiche argv[1] alors qu’il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 NULL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(%s attend un char*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NULL</a:t>
            </a: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Comportement indéfini !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103"/>
          <p:cNvSpPr txBox="1"/>
          <p:nvPr/>
        </p:nvSpPr>
        <p:spPr>
          <a:xfrm>
            <a:off x="3475600" y="3518100"/>
            <a:ext cx="5114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pratique, il n’y a pas de crash, car printf est souvent implémenté pour gérer NULL avec %s. Sortie “réelle”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argument.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Arg: '(null)'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103"/>
          <p:cNvSpPr txBox="1"/>
          <p:nvPr/>
        </p:nvSpPr>
        <p:spPr>
          <a:xfrm>
            <a:off x="129800" y="3850275"/>
            <a:ext cx="29115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Explication du comportement indéfini sur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§7.1.7, §7.9.6.1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§7.1.4/1, §7.19.6.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1/8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(spécificateur %s de printf)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0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 … ELSE</a:t>
            </a:r>
            <a:endParaRPr/>
          </a:p>
        </p:txBody>
      </p:sp>
      <p:sp>
        <p:nvSpPr>
          <p:cNvPr id="1069" name="Google Shape;1069;p104"/>
          <p:cNvSpPr txBox="1"/>
          <p:nvPr/>
        </p:nvSpPr>
        <p:spPr>
          <a:xfrm>
            <a:off x="4767850" y="1535075"/>
            <a:ext cx="36555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Affiche “No argument”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Passe au “case 2”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Affiche argv[1] alors qu’il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 NULL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(puts attend un char*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NULL</a:t>
            </a: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Comportement indéfini !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0" name="Google Shape;1070;p104"/>
          <p:cNvSpPr txBox="1"/>
          <p:nvPr/>
        </p:nvSpPr>
        <p:spPr>
          <a:xfrm>
            <a:off x="3301375" y="3518100"/>
            <a:ext cx="5114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a aussi un comportement indéfini avec puts, qui est un crash (segfault) en pratique, car les implémentations de puts ne gèrent pas NULL.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1" name="Google Shape;107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00" y="1535075"/>
            <a:ext cx="3046475" cy="23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254900" y="4087200"/>
            <a:ext cx="222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§7.1.7, §7.9.7.10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§7.1.4/1, §7.19.7.10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 … ELSE</a:t>
            </a:r>
            <a:endParaRPr/>
          </a:p>
        </p:txBody>
      </p:sp>
      <p:sp>
        <p:nvSpPr>
          <p:cNvPr id="1078" name="Google Shape;1078;p105"/>
          <p:cNvSpPr txBox="1"/>
          <p:nvPr/>
        </p:nvSpPr>
        <p:spPr>
          <a:xfrm>
            <a:off x="3834625" y="1939650"/>
            <a:ext cx="845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9" name="Google Shape;107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25" y="1525325"/>
            <a:ext cx="3675000" cy="22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8800" y="1359166"/>
            <a:ext cx="28098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105"/>
          <p:cNvSpPr/>
          <p:nvPr/>
        </p:nvSpPr>
        <p:spPr>
          <a:xfrm>
            <a:off x="5237400" y="1524275"/>
            <a:ext cx="1423200" cy="37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105"/>
          <p:cNvSpPr/>
          <p:nvPr/>
        </p:nvSpPr>
        <p:spPr>
          <a:xfrm>
            <a:off x="4918800" y="2998675"/>
            <a:ext cx="1958400" cy="548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3" name="Google Shape;1083;p105"/>
          <p:cNvSpPr/>
          <p:nvPr/>
        </p:nvSpPr>
        <p:spPr>
          <a:xfrm>
            <a:off x="5237400" y="1899875"/>
            <a:ext cx="1914300" cy="3687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105"/>
          <p:cNvSpPr/>
          <p:nvPr/>
        </p:nvSpPr>
        <p:spPr>
          <a:xfrm>
            <a:off x="4918800" y="3706775"/>
            <a:ext cx="2831700" cy="3756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105"/>
          <p:cNvSpPr/>
          <p:nvPr/>
        </p:nvSpPr>
        <p:spPr>
          <a:xfrm>
            <a:off x="5237400" y="2268575"/>
            <a:ext cx="1148700" cy="5484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105"/>
          <p:cNvSpPr/>
          <p:nvPr/>
        </p:nvSpPr>
        <p:spPr>
          <a:xfrm>
            <a:off x="4918800" y="4277175"/>
            <a:ext cx="1148700" cy="5067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105"/>
          <p:cNvSpPr/>
          <p:nvPr/>
        </p:nvSpPr>
        <p:spPr>
          <a:xfrm>
            <a:off x="4572000" y="3389475"/>
            <a:ext cx="302400" cy="1394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8" name="Google Shape;1088;p105"/>
          <p:cNvCxnSpPr/>
          <p:nvPr/>
        </p:nvCxnSpPr>
        <p:spPr>
          <a:xfrm>
            <a:off x="1128775" y="2376175"/>
            <a:ext cx="576300" cy="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105"/>
          <p:cNvCxnSpPr/>
          <p:nvPr/>
        </p:nvCxnSpPr>
        <p:spPr>
          <a:xfrm>
            <a:off x="5237400" y="3431275"/>
            <a:ext cx="686400" cy="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0" name="Google Shape;1090;p105"/>
          <p:cNvSpPr/>
          <p:nvPr/>
        </p:nvSpPr>
        <p:spPr>
          <a:xfrm>
            <a:off x="7050900" y="3204950"/>
            <a:ext cx="1024500" cy="14676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105"/>
          <p:cNvSpPr txBox="1"/>
          <p:nvPr/>
        </p:nvSpPr>
        <p:spPr>
          <a:xfrm>
            <a:off x="159625" y="3810875"/>
            <a:ext cx="3351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Le "Duff's Device" : une ancienne technique qui abuse du switch pour augmenter les performances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Coroutines avec le Duff's Device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2" name="Google Shape;1092;p105"/>
          <p:cNvSpPr txBox="1"/>
          <p:nvPr/>
        </p:nvSpPr>
        <p:spPr>
          <a:xfrm>
            <a:off x="1777100" y="2340575"/>
            <a:ext cx="1553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“Fallthrough”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0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</a:t>
            </a:r>
            <a:endParaRPr/>
          </a:p>
        </p:txBody>
      </p:sp>
      <p:pic>
        <p:nvPicPr>
          <p:cNvPr id="1098" name="Google Shape;109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2808348"/>
            <a:ext cx="2115950" cy="145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106"/>
          <p:cNvSpPr/>
          <p:nvPr/>
        </p:nvSpPr>
        <p:spPr>
          <a:xfrm rot="-5400000">
            <a:off x="3661825" y="3051423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0" name="Google Shape;1100;p106"/>
          <p:cNvSpPr txBox="1"/>
          <p:nvPr/>
        </p:nvSpPr>
        <p:spPr>
          <a:xfrm>
            <a:off x="4613525" y="3310163"/>
            <a:ext cx="1676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N’affiche rien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1" name="Google Shape;1101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10" y="1342516"/>
            <a:ext cx="242887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06"/>
          <p:cNvSpPr/>
          <p:nvPr/>
        </p:nvSpPr>
        <p:spPr>
          <a:xfrm rot="-5400000">
            <a:off x="3661825" y="1483860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3" name="Google Shape;1103;p106"/>
          <p:cNvSpPr txBox="1"/>
          <p:nvPr/>
        </p:nvSpPr>
        <p:spPr>
          <a:xfrm>
            <a:off x="4613525" y="1742588"/>
            <a:ext cx="1676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Affiche “Hello”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4" name="Google Shape;1104;p106"/>
          <p:cNvCxnSpPr/>
          <p:nvPr/>
        </p:nvCxnSpPr>
        <p:spPr>
          <a:xfrm flipH="1" rot="10800000">
            <a:off x="1317800" y="2222875"/>
            <a:ext cx="489900" cy="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5" name="Google Shape;1105;p106"/>
          <p:cNvSpPr txBox="1"/>
          <p:nvPr/>
        </p:nvSpPr>
        <p:spPr>
          <a:xfrm>
            <a:off x="6077250" y="2223475"/>
            <a:ext cx="30276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§6.6.4.2 (Semantics, “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no converted case constant…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§6.8.4.2/5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0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ET CONTINUE</a:t>
            </a:r>
            <a:r>
              <a:rPr lang="en">
                <a:solidFill>
                  <a:schemeClr val="dk2"/>
                </a:solidFill>
              </a:rPr>
              <a:t> C’EST PAREIL</a:t>
            </a:r>
            <a:endParaRPr/>
          </a:p>
        </p:txBody>
      </p:sp>
      <p:pic>
        <p:nvPicPr>
          <p:cNvPr id="1111" name="Google Shape;1111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888" y="1430003"/>
            <a:ext cx="3912825" cy="27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107"/>
          <p:cNvSpPr/>
          <p:nvPr/>
        </p:nvSpPr>
        <p:spPr>
          <a:xfrm>
            <a:off x="3553450" y="2435200"/>
            <a:ext cx="2644800" cy="1285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107"/>
          <p:cNvSpPr/>
          <p:nvPr/>
        </p:nvSpPr>
        <p:spPr>
          <a:xfrm rot="10800000">
            <a:off x="3756350" y="3438700"/>
            <a:ext cx="1134300" cy="20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107"/>
          <p:cNvSpPr/>
          <p:nvPr/>
        </p:nvSpPr>
        <p:spPr>
          <a:xfrm flipH="1" rot="10800000">
            <a:off x="3157450" y="2470550"/>
            <a:ext cx="815700" cy="433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5" name="Google Shape;1115;p107"/>
          <p:cNvSpPr/>
          <p:nvPr/>
        </p:nvSpPr>
        <p:spPr>
          <a:xfrm flipH="1">
            <a:off x="4948450" y="2470650"/>
            <a:ext cx="1849500" cy="20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6" name="Google Shape;1116;p107"/>
          <p:cNvSpPr txBox="1"/>
          <p:nvPr/>
        </p:nvSpPr>
        <p:spPr>
          <a:xfrm>
            <a:off x="6833925" y="2391150"/>
            <a:ext cx="2152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while(0)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condition fausse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on ne rentre plus dans la boucle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on sort du switch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107"/>
          <p:cNvSpPr txBox="1"/>
          <p:nvPr/>
        </p:nvSpPr>
        <p:spPr>
          <a:xfrm>
            <a:off x="5800875" y="4276625"/>
            <a:ext cx="334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Une autre question que j'ai posée à ce sujet sur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0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ACCOLADES</a:t>
            </a:r>
            <a:r>
              <a:rPr lang="en">
                <a:solidFill>
                  <a:schemeClr val="dk2"/>
                </a:solidFill>
              </a:rPr>
              <a:t> ÇA SERT À RIEN</a:t>
            </a:r>
            <a:endParaRPr/>
          </a:p>
        </p:txBody>
      </p:sp>
      <p:pic>
        <p:nvPicPr>
          <p:cNvPr id="1123" name="Google Shape;112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6175" y="1412750"/>
            <a:ext cx="3050575" cy="102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75" y="3665941"/>
            <a:ext cx="54483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875" y="1260641"/>
            <a:ext cx="362902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1925" y="2571750"/>
            <a:ext cx="51054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08"/>
          <p:cNvSpPr txBox="1"/>
          <p:nvPr/>
        </p:nvSpPr>
        <p:spPr>
          <a:xfrm>
            <a:off x="50" y="4822800"/>
            <a:ext cx="914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§B.2.3, C99 §A.2.3 ⇒ if/else/while…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attendant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 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statement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qui peut être un 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expression-statement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qui peut n’être qu’un point-virgule 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" name="Google Shape;1132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0" y="2126438"/>
            <a:ext cx="428625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10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GOLF* -</a:t>
            </a:r>
            <a:r>
              <a:rPr lang="en">
                <a:solidFill>
                  <a:schemeClr val="dk2"/>
                </a:solidFill>
              </a:rPr>
              <a:t> AFFICHER ARGV</a:t>
            </a:r>
            <a:endParaRPr/>
          </a:p>
        </p:txBody>
      </p:sp>
      <p:pic>
        <p:nvPicPr>
          <p:cNvPr id="1134" name="Google Shape;1134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050" y="1666991"/>
            <a:ext cx="4772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109"/>
          <p:cNvSpPr txBox="1"/>
          <p:nvPr/>
        </p:nvSpPr>
        <p:spPr>
          <a:xfrm>
            <a:off x="708650" y="1387000"/>
            <a:ext cx="1162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C89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6" name="Google Shape;1136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650" y="2457066"/>
            <a:ext cx="4124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09"/>
          <p:cNvSpPr/>
          <p:nvPr/>
        </p:nvSpPr>
        <p:spPr>
          <a:xfrm rot="-5400000">
            <a:off x="3856850" y="3025110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109"/>
          <p:cNvSpPr txBox="1"/>
          <p:nvPr/>
        </p:nvSpPr>
        <p:spPr>
          <a:xfrm>
            <a:off x="507575" y="4538525"/>
            <a:ext cx="8412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Code golf : pratique consistant à faire le code le plus court, en utilisant le moins de caractères/octets possible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9" name="Google Shape;1139;p109"/>
          <p:cNvSpPr txBox="1"/>
          <p:nvPr/>
        </p:nvSpPr>
        <p:spPr>
          <a:xfrm>
            <a:off x="7284275" y="3166900"/>
            <a:ext cx="16356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§5.1.2.2.1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§5.1.2.2.1/2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110" title="ArgvAnim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1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r>
              <a:rPr lang="en">
                <a:solidFill>
                  <a:schemeClr val="dk2"/>
                </a:solidFill>
              </a:rPr>
              <a:t>[TABLEAU]</a:t>
            </a:r>
            <a:endParaRPr/>
          </a:p>
        </p:txBody>
      </p:sp>
      <p:pic>
        <p:nvPicPr>
          <p:cNvPr id="1150" name="Google Shape;1150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75" y="1938324"/>
            <a:ext cx="2975800" cy="14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175" y="2211438"/>
            <a:ext cx="3153150" cy="78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11"/>
          <p:cNvSpPr/>
          <p:nvPr/>
        </p:nvSpPr>
        <p:spPr>
          <a:xfrm>
            <a:off x="3580150" y="2269000"/>
            <a:ext cx="1685100" cy="788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3" name="Google Shape;1153;p111"/>
          <p:cNvSpPr txBox="1"/>
          <p:nvPr/>
        </p:nvSpPr>
        <p:spPr>
          <a:xfrm>
            <a:off x="6363725" y="4137250"/>
            <a:ext cx="24276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§6.3.2.1 (Semantics)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12"/>
          <p:cNvSpPr txBox="1"/>
          <p:nvPr>
            <p:ph type="title"/>
          </p:nvPr>
        </p:nvSpPr>
        <p:spPr>
          <a:xfrm>
            <a:off x="0" y="6263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 </a:t>
            </a:r>
            <a:r>
              <a:rPr lang="en">
                <a:solidFill>
                  <a:schemeClr val="dk2"/>
                </a:solidFill>
              </a:rPr>
              <a:t>CLASSES</a:t>
            </a:r>
            <a:r>
              <a:rPr lang="en"/>
              <a:t> … DE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STOCKAGE !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159" name="Google Shape;1159;p112"/>
          <p:cNvGraphicFramePr/>
          <p:nvPr/>
        </p:nvGraphicFramePr>
        <p:xfrm>
          <a:off x="26622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2001350"/>
                <a:gridCol w="618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Classe de stockage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typedef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Alias de type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Symbole défini autre part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Durée de vie du début à la fin du programme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Stockage automatique (dans la pile)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register 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(Potentiel) stockage dans un registre.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</a:t>
                      </a:r>
                      <a:r>
                        <a:rPr lang="en"/>
                        <a:t>addressable</a:t>
                      </a:r>
                      <a:r>
                        <a:rPr lang="en"/>
                        <a:t> (impossible de récupérer l’adresse d’une variable register)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0" name="Google Shape;1160;p112"/>
          <p:cNvSpPr txBox="1"/>
          <p:nvPr/>
        </p:nvSpPr>
        <p:spPr>
          <a:xfrm>
            <a:off x="238400" y="4226050"/>
            <a:ext cx="11052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112"/>
          <p:cNvSpPr txBox="1"/>
          <p:nvPr/>
        </p:nvSpPr>
        <p:spPr>
          <a:xfrm>
            <a:off x="2267575" y="4074300"/>
            <a:ext cx="63717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Impactent comment est stocké / linké un symbole.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Sauf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typedef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qui est une classe de stockage par commodité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C89 §6.5.1 (Semantics, 1er paragraphe), C99 §6.7.1/3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2" name="Google Shape;1162;p112"/>
          <p:cNvSpPr txBox="1"/>
          <p:nvPr/>
        </p:nvSpPr>
        <p:spPr>
          <a:xfrm>
            <a:off x="132800" y="4789450"/>
            <a:ext cx="33741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Pour aller plus loin à propos de register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CONST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OU</a:t>
            </a:r>
            <a:r>
              <a:rPr lang="en">
                <a:solidFill>
                  <a:schemeClr val="dk2"/>
                </a:solidFill>
              </a:rPr>
              <a:t> CONST </a:t>
            </a: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68" name="Google Shape;1168;p113"/>
          <p:cNvSpPr txBox="1"/>
          <p:nvPr/>
        </p:nvSpPr>
        <p:spPr>
          <a:xfrm>
            <a:off x="8083675" y="4240500"/>
            <a:ext cx="10257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9" name="Google Shape;1169;p113"/>
          <p:cNvPicPr preferRelativeResize="0"/>
          <p:nvPr/>
        </p:nvPicPr>
        <p:blipFill rotWithShape="1">
          <a:blip r:embed="rId3">
            <a:alphaModFix/>
          </a:blip>
          <a:srcRect b="45208" l="0" r="0" t="0"/>
          <a:stretch/>
        </p:blipFill>
        <p:spPr>
          <a:xfrm>
            <a:off x="0" y="1073925"/>
            <a:ext cx="4983925" cy="203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13"/>
          <p:cNvSpPr txBox="1"/>
          <p:nvPr/>
        </p:nvSpPr>
        <p:spPr>
          <a:xfrm>
            <a:off x="2220850" y="1191975"/>
            <a:ext cx="2135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(extrait simplifié)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1" name="Google Shape;1171;p113"/>
          <p:cNvSpPr/>
          <p:nvPr/>
        </p:nvSpPr>
        <p:spPr>
          <a:xfrm>
            <a:off x="4854550" y="2420050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113"/>
          <p:cNvSpPr txBox="1"/>
          <p:nvPr/>
        </p:nvSpPr>
        <p:spPr>
          <a:xfrm>
            <a:off x="5389125" y="2290050"/>
            <a:ext cx="33303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Classe de stockage : extern, static…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3" name="Google Shape;1173;p113"/>
          <p:cNvSpPr/>
          <p:nvPr/>
        </p:nvSpPr>
        <p:spPr>
          <a:xfrm>
            <a:off x="4326450" y="2687300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4" name="Google Shape;1174;p113"/>
          <p:cNvSpPr txBox="1"/>
          <p:nvPr/>
        </p:nvSpPr>
        <p:spPr>
          <a:xfrm>
            <a:off x="4854550" y="2571750"/>
            <a:ext cx="3958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 (non pointeur) : int, float, char, void...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5" name="Google Shape;1175;p113"/>
          <p:cNvSpPr/>
          <p:nvPr/>
        </p:nvSpPr>
        <p:spPr>
          <a:xfrm>
            <a:off x="4326450" y="2911100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6" name="Google Shape;1176;p113"/>
          <p:cNvSpPr txBox="1"/>
          <p:nvPr/>
        </p:nvSpPr>
        <p:spPr>
          <a:xfrm>
            <a:off x="4817550" y="2799050"/>
            <a:ext cx="41253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Qualificateur de type : const, volatile, restrict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113"/>
          <p:cNvSpPr/>
          <p:nvPr/>
        </p:nvSpPr>
        <p:spPr>
          <a:xfrm>
            <a:off x="4754100" y="1992513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113"/>
          <p:cNvSpPr/>
          <p:nvPr/>
        </p:nvSpPr>
        <p:spPr>
          <a:xfrm>
            <a:off x="3041300" y="1928825"/>
            <a:ext cx="1530600" cy="281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9" name="Google Shape;1179;p113"/>
          <p:cNvSpPr txBox="1"/>
          <p:nvPr/>
        </p:nvSpPr>
        <p:spPr>
          <a:xfrm>
            <a:off x="5245200" y="1891075"/>
            <a:ext cx="24060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Pointeur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et/ou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‘= valeur’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0" name="Google Shape;1180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87300"/>
            <a:ext cx="19431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113"/>
          <p:cNvSpPr txBox="1"/>
          <p:nvPr/>
        </p:nvSpPr>
        <p:spPr>
          <a:xfrm>
            <a:off x="2124400" y="2911100"/>
            <a:ext cx="82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1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113"/>
          <p:cNvSpPr txBox="1"/>
          <p:nvPr/>
        </p:nvSpPr>
        <p:spPr>
          <a:xfrm>
            <a:off x="2775550" y="3792900"/>
            <a:ext cx="1025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3" name="Google Shape;1183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0475" y="3787863"/>
            <a:ext cx="2038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13"/>
          <p:cNvSpPr txBox="1"/>
          <p:nvPr/>
        </p:nvSpPr>
        <p:spPr>
          <a:xfrm>
            <a:off x="3624175" y="3404713"/>
            <a:ext cx="82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6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CONST </a:t>
            </a:r>
            <a:r>
              <a:rPr lang="en"/>
              <a:t>OU</a:t>
            </a:r>
            <a:r>
              <a:rPr lang="en">
                <a:solidFill>
                  <a:schemeClr val="dk2"/>
                </a:solidFill>
              </a:rPr>
              <a:t> CONST </a:t>
            </a: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90" name="Google Shape;1190;p114"/>
          <p:cNvSpPr txBox="1"/>
          <p:nvPr/>
        </p:nvSpPr>
        <p:spPr>
          <a:xfrm>
            <a:off x="89750" y="1509825"/>
            <a:ext cx="46998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rétrocompatibilité !</a:t>
            </a:r>
            <a:endParaRPr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</a:t>
            </a:r>
            <a:r>
              <a:rPr lang="en" sz="2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34 ans</a:t>
            </a: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rien n’a changé ! *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1" name="Google Shape;1191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87300"/>
            <a:ext cx="19431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114"/>
          <p:cNvSpPr txBox="1"/>
          <p:nvPr/>
        </p:nvSpPr>
        <p:spPr>
          <a:xfrm>
            <a:off x="2124400" y="2911100"/>
            <a:ext cx="82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1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3" name="Google Shape;1193;p114"/>
          <p:cNvSpPr txBox="1"/>
          <p:nvPr/>
        </p:nvSpPr>
        <p:spPr>
          <a:xfrm>
            <a:off x="2775550" y="3792900"/>
            <a:ext cx="1025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4" name="Google Shape;1194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0475" y="3787863"/>
            <a:ext cx="2038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14"/>
          <p:cNvSpPr txBox="1"/>
          <p:nvPr/>
        </p:nvSpPr>
        <p:spPr>
          <a:xfrm>
            <a:off x="3624175" y="3404713"/>
            <a:ext cx="82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6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96" name="Google Shape;1196;p114"/>
          <p:cNvGraphicFramePr/>
          <p:nvPr/>
        </p:nvGraphicFramePr>
        <p:xfrm>
          <a:off x="4789550" y="130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540900"/>
                <a:gridCol w="873850"/>
                <a:gridCol w="942375"/>
                <a:gridCol w="99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Autorise une classe de stockage à ne pas  être au début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§6.5 (Syntax)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§6.7/1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§6.7.1/1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Déclare cette fonctionnalité obsolète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§6.9.3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§6.11.5/1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§6.11.6/1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7" name="Google Shape;1197;p114"/>
          <p:cNvSpPr txBox="1"/>
          <p:nvPr/>
        </p:nvSpPr>
        <p:spPr>
          <a:xfrm>
            <a:off x="6644400" y="3660375"/>
            <a:ext cx="249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Rien n’a changé </a:t>
            </a:r>
            <a:r>
              <a:rPr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sur ce point précis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Même si le C change peu, C23 a beaucoup contribué à moderniser le langage.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340516"/>
            <a:ext cx="4272800" cy="29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 FAIRE UN </a:t>
            </a:r>
            <a:r>
              <a:rPr lang="en">
                <a:solidFill>
                  <a:schemeClr val="dk2"/>
                </a:solidFill>
              </a:rPr>
              <a:t>TABLEAU ?</a:t>
            </a:r>
            <a:endParaRPr/>
          </a:p>
        </p:txBody>
      </p:sp>
      <p:sp>
        <p:nvSpPr>
          <p:cNvPr id="1204" name="Google Shape;1204;p115"/>
          <p:cNvSpPr/>
          <p:nvPr/>
        </p:nvSpPr>
        <p:spPr>
          <a:xfrm rot="5400000">
            <a:off x="3458475" y="2193823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15"/>
          <p:cNvSpPr txBox="1"/>
          <p:nvPr/>
        </p:nvSpPr>
        <p:spPr>
          <a:xfrm>
            <a:off x="4572000" y="2439575"/>
            <a:ext cx="3311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Taille fixe connue à la compilation.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§6.5.4.2 (Constraints)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§6.7.5.2/1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115"/>
          <p:cNvSpPr/>
          <p:nvPr/>
        </p:nvSpPr>
        <p:spPr>
          <a:xfrm rot="5400000">
            <a:off x="5394475" y="3558748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115"/>
          <p:cNvSpPr txBox="1"/>
          <p:nvPr/>
        </p:nvSpPr>
        <p:spPr>
          <a:xfrm>
            <a:off x="6437150" y="3666150"/>
            <a:ext cx="2706900" cy="1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Taille inconnue à la compilation (ici dépend d’un input).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§7.10.3.3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§7.20.3.3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8" name="Google Shape;1208;p115"/>
          <p:cNvSpPr txBox="1"/>
          <p:nvPr/>
        </p:nvSpPr>
        <p:spPr>
          <a:xfrm>
            <a:off x="1354800" y="2859250"/>
            <a:ext cx="10485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340516"/>
            <a:ext cx="4272800" cy="29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1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</a:t>
            </a:r>
            <a:r>
              <a:rPr lang="en">
                <a:solidFill>
                  <a:schemeClr val="dk2"/>
                </a:solidFill>
              </a:rPr>
              <a:t>VLA</a:t>
            </a:r>
            <a:endParaRPr/>
          </a:p>
        </p:txBody>
      </p:sp>
      <p:sp>
        <p:nvSpPr>
          <p:cNvPr id="1215" name="Google Shape;1215;p116"/>
          <p:cNvSpPr txBox="1"/>
          <p:nvPr/>
        </p:nvSpPr>
        <p:spPr>
          <a:xfrm>
            <a:off x="1354800" y="2859250"/>
            <a:ext cx="10485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 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6" name="Google Shape;1216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7212" y="1676275"/>
            <a:ext cx="2240825" cy="23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116"/>
          <p:cNvSpPr/>
          <p:nvPr/>
        </p:nvSpPr>
        <p:spPr>
          <a:xfrm rot="-5400000">
            <a:off x="3683575" y="2224788"/>
            <a:ext cx="771000" cy="121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8" name="Google Shape;1218;p116"/>
          <p:cNvSpPr/>
          <p:nvPr/>
        </p:nvSpPr>
        <p:spPr>
          <a:xfrm rot="5400000">
            <a:off x="7357775" y="2486700"/>
            <a:ext cx="303000" cy="47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9" name="Google Shape;1219;p116"/>
          <p:cNvSpPr/>
          <p:nvPr/>
        </p:nvSpPr>
        <p:spPr>
          <a:xfrm rot="5400000">
            <a:off x="7128175" y="2672650"/>
            <a:ext cx="303000" cy="96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0" name="Google Shape;1220;p116"/>
          <p:cNvSpPr txBox="1"/>
          <p:nvPr/>
        </p:nvSpPr>
        <p:spPr>
          <a:xfrm>
            <a:off x="7801750" y="2516700"/>
            <a:ext cx="13176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Taille inconnue à la compilation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§6.7.5.2/4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1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endParaRPr/>
          </a:p>
        </p:txBody>
      </p:sp>
      <p:pic>
        <p:nvPicPr>
          <p:cNvPr id="1226" name="Google Shape;122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25" y="1255216"/>
            <a:ext cx="32194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25" y="2830929"/>
            <a:ext cx="44196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117"/>
          <p:cNvSpPr/>
          <p:nvPr/>
        </p:nvSpPr>
        <p:spPr>
          <a:xfrm rot="-5400000">
            <a:off x="4976875" y="1234922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17"/>
          <p:cNvSpPr txBox="1"/>
          <p:nvPr/>
        </p:nvSpPr>
        <p:spPr>
          <a:xfrm>
            <a:off x="6010375" y="1358125"/>
            <a:ext cx="23118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(selon le système)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0" name="Google Shape;1230;p117"/>
          <p:cNvCxnSpPr/>
          <p:nvPr/>
        </p:nvCxnSpPr>
        <p:spPr>
          <a:xfrm>
            <a:off x="2882375" y="3749275"/>
            <a:ext cx="1514400" cy="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117"/>
          <p:cNvSpPr/>
          <p:nvPr/>
        </p:nvSpPr>
        <p:spPr>
          <a:xfrm rot="-5400000">
            <a:off x="4976875" y="3041622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17"/>
          <p:cNvSpPr txBox="1"/>
          <p:nvPr/>
        </p:nvSpPr>
        <p:spPr>
          <a:xfrm>
            <a:off x="6010375" y="3206475"/>
            <a:ext cx="14232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???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3" name="Google Shape;1233;p117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1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endParaRPr/>
          </a:p>
        </p:txBody>
      </p:sp>
      <p:sp>
        <p:nvSpPr>
          <p:cNvPr id="1239" name="Google Shape;1239;p118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0" name="Google Shape;124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25" y="1241654"/>
            <a:ext cx="44196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0975" y="2853625"/>
            <a:ext cx="4476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18"/>
          <p:cNvSpPr/>
          <p:nvPr/>
        </p:nvSpPr>
        <p:spPr>
          <a:xfrm flipH="1" rot="10800000">
            <a:off x="2942500" y="2142700"/>
            <a:ext cx="729600" cy="579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3" name="Google Shape;1243;p118"/>
          <p:cNvSpPr txBox="1"/>
          <p:nvPr/>
        </p:nvSpPr>
        <p:spPr>
          <a:xfrm>
            <a:off x="3900975" y="2355025"/>
            <a:ext cx="4312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rintf renvoie un 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4" name="Google Shape;1244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725" y="3101266"/>
            <a:ext cx="32194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18"/>
          <p:cNvSpPr/>
          <p:nvPr/>
        </p:nvSpPr>
        <p:spPr>
          <a:xfrm rot="10800000">
            <a:off x="3997825" y="3154850"/>
            <a:ext cx="972300" cy="738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/>
              <a:t> ET LES </a:t>
            </a:r>
            <a:r>
              <a:rPr lang="en">
                <a:solidFill>
                  <a:schemeClr val="dk2"/>
                </a:solidFill>
              </a:rPr>
              <a:t>VLA</a:t>
            </a:r>
            <a:endParaRPr/>
          </a:p>
        </p:txBody>
      </p:sp>
      <p:pic>
        <p:nvPicPr>
          <p:cNvPr id="1251" name="Google Shape;1251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356341"/>
            <a:ext cx="35433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119"/>
          <p:cNvSpPr/>
          <p:nvPr/>
        </p:nvSpPr>
        <p:spPr>
          <a:xfrm rot="-5400000">
            <a:off x="4736850" y="1458909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3" name="Google Shape;1253;p119"/>
          <p:cNvSpPr txBox="1"/>
          <p:nvPr/>
        </p:nvSpPr>
        <p:spPr>
          <a:xfrm>
            <a:off x="5869700" y="1668750"/>
            <a:ext cx="29076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* 4 → 12 (selon le système)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4" name="Google Shape;1254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00" y="2796541"/>
            <a:ext cx="47910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119"/>
          <p:cNvSpPr/>
          <p:nvPr/>
        </p:nvSpPr>
        <p:spPr>
          <a:xfrm rot="-5400000">
            <a:off x="6034550" y="3077784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119"/>
          <p:cNvSpPr txBox="1"/>
          <p:nvPr/>
        </p:nvSpPr>
        <p:spPr>
          <a:xfrm>
            <a:off x="7115650" y="3341025"/>
            <a:ext cx="830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???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119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12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/>
              <a:t> ET LES </a:t>
            </a:r>
            <a:r>
              <a:rPr lang="en">
                <a:solidFill>
                  <a:schemeClr val="dk2"/>
                </a:solidFill>
              </a:rPr>
              <a:t>VLA</a:t>
            </a:r>
            <a:endParaRPr/>
          </a:p>
        </p:txBody>
      </p:sp>
      <p:pic>
        <p:nvPicPr>
          <p:cNvPr id="1263" name="Google Shape;1263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419216"/>
            <a:ext cx="4791075" cy="115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4" name="Google Shape;1264;p120"/>
          <p:cNvCxnSpPr/>
          <p:nvPr/>
        </p:nvCxnSpPr>
        <p:spPr>
          <a:xfrm>
            <a:off x="3648125" y="2340575"/>
            <a:ext cx="130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5" name="Google Shape;1265;p120"/>
          <p:cNvSpPr/>
          <p:nvPr/>
        </p:nvSpPr>
        <p:spPr>
          <a:xfrm flipH="1" rot="10800000">
            <a:off x="3701025" y="2409975"/>
            <a:ext cx="729600" cy="579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6" name="Google Shape;1266;p120"/>
          <p:cNvSpPr txBox="1"/>
          <p:nvPr/>
        </p:nvSpPr>
        <p:spPr>
          <a:xfrm>
            <a:off x="4608925" y="2593425"/>
            <a:ext cx="39372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rintf écrit 3 caractères → renvoie 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7" name="Google Shape;1267;p120"/>
          <p:cNvSpPr/>
          <p:nvPr/>
        </p:nvSpPr>
        <p:spPr>
          <a:xfrm rot="10800000">
            <a:off x="4828575" y="3027000"/>
            <a:ext cx="972300" cy="738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8" name="Google Shape;1268;p120"/>
          <p:cNvSpPr txBox="1"/>
          <p:nvPr/>
        </p:nvSpPr>
        <p:spPr>
          <a:xfrm>
            <a:off x="3351925" y="3272400"/>
            <a:ext cx="13002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sizeof(int[3])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9" name="Google Shape;1269;p120"/>
          <p:cNvSpPr/>
          <p:nvPr/>
        </p:nvSpPr>
        <p:spPr>
          <a:xfrm rot="10800000">
            <a:off x="3138850" y="3765900"/>
            <a:ext cx="972300" cy="54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120"/>
          <p:cNvSpPr txBox="1"/>
          <p:nvPr/>
        </p:nvSpPr>
        <p:spPr>
          <a:xfrm>
            <a:off x="442700" y="3902100"/>
            <a:ext cx="2607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* 4 → 12 (selon le système)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1" name="Google Shape;1271;p120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2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/>
              <a:t> ET LES </a:t>
            </a:r>
            <a:r>
              <a:rPr lang="en">
                <a:solidFill>
                  <a:schemeClr val="dk2"/>
                </a:solidFill>
              </a:rPr>
              <a:t>VLA</a:t>
            </a:r>
            <a:endParaRPr/>
          </a:p>
        </p:txBody>
      </p:sp>
      <p:sp>
        <p:nvSpPr>
          <p:cNvPr id="1277" name="Google Shape;1277;p121"/>
          <p:cNvSpPr txBox="1"/>
          <p:nvPr/>
        </p:nvSpPr>
        <p:spPr>
          <a:xfrm>
            <a:off x="380250" y="2404738"/>
            <a:ext cx="35211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izeof(x) 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Exécute x si x est un </a:t>
            </a:r>
            <a:r>
              <a:rPr b="1" lang="en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VLA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N’exécute </a:t>
            </a:r>
            <a:r>
              <a:rPr b="1" lang="en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x sinon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8" name="Google Shape;1278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350" y="1226332"/>
            <a:ext cx="5090249" cy="33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21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2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</a:t>
            </a:r>
            <a:r>
              <a:rPr lang="en">
                <a:solidFill>
                  <a:schemeClr val="dk2"/>
                </a:solidFill>
              </a:rPr>
              <a:t> CODE </a:t>
            </a:r>
            <a:r>
              <a:rPr lang="en"/>
              <a:t>DANS LES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ARGUMENTS </a:t>
            </a:r>
            <a:r>
              <a:rPr lang="en"/>
              <a:t>??</a:t>
            </a:r>
            <a:endParaRPr/>
          </a:p>
        </p:txBody>
      </p:sp>
      <p:pic>
        <p:nvPicPr>
          <p:cNvPr id="1285" name="Google Shape;1285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75" y="1246566"/>
            <a:ext cx="42481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122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7" name="Google Shape;1287;p122"/>
          <p:cNvCxnSpPr/>
          <p:nvPr/>
        </p:nvCxnSpPr>
        <p:spPr>
          <a:xfrm>
            <a:off x="2881925" y="2368225"/>
            <a:ext cx="156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122"/>
          <p:cNvSpPr/>
          <p:nvPr/>
        </p:nvSpPr>
        <p:spPr>
          <a:xfrm flipH="1" rot="10800000">
            <a:off x="3758375" y="2437750"/>
            <a:ext cx="869400" cy="850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9" name="Google Shape;1289;p122"/>
          <p:cNvSpPr txBox="1"/>
          <p:nvPr/>
        </p:nvSpPr>
        <p:spPr>
          <a:xfrm>
            <a:off x="4677275" y="2802875"/>
            <a:ext cx="22467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affiche str et on renvoie sa longueur.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0" name="Google Shape;1290;p122"/>
          <p:cNvSpPr txBox="1"/>
          <p:nvPr/>
        </p:nvSpPr>
        <p:spPr>
          <a:xfrm>
            <a:off x="6053575" y="3736825"/>
            <a:ext cx="18276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paramètre est un VLA que l’on ignore.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1" name="Google Shape;1291;p122"/>
          <p:cNvSpPr/>
          <p:nvPr/>
        </p:nvSpPr>
        <p:spPr>
          <a:xfrm flipH="1" rot="10800000">
            <a:off x="4785175" y="3648075"/>
            <a:ext cx="1073400" cy="825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2" name="Google Shape;1292;p122"/>
          <p:cNvCxnSpPr/>
          <p:nvPr/>
        </p:nvCxnSpPr>
        <p:spPr>
          <a:xfrm>
            <a:off x="2874700" y="3220650"/>
            <a:ext cx="386400" cy="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3" name="Google Shape;1293;p122"/>
          <p:cNvSpPr/>
          <p:nvPr/>
        </p:nvSpPr>
        <p:spPr>
          <a:xfrm rot="10800000">
            <a:off x="2565075" y="3365975"/>
            <a:ext cx="627000" cy="566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22"/>
          <p:cNvSpPr txBox="1"/>
          <p:nvPr/>
        </p:nvSpPr>
        <p:spPr>
          <a:xfrm>
            <a:off x="0" y="3497975"/>
            <a:ext cx="25446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n’oublie pas que my_putstr prend un tableau → donc un pointeur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“TABLEAU OU POINTEUR ?”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5" name="Google Shape;1295;p122"/>
          <p:cNvSpPr txBox="1"/>
          <p:nvPr/>
        </p:nvSpPr>
        <p:spPr>
          <a:xfrm>
            <a:off x="5858575" y="1073925"/>
            <a:ext cx="3285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Comportement pas garanti !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En pratique, ne compile pas ou alors marche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§6.7.5.3/7* → un paramètre de type T[] devient T*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§6.9.1/10 → quand on appelle la fonction, l’argument tableau doit être converti en pointeur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Pas clair, donc la norme ne dit pas si le printf doit s’exécuter on non dans c cas-là.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6" name="Google Shape;1296;p122"/>
          <p:cNvSpPr txBox="1"/>
          <p:nvPr/>
        </p:nvSpPr>
        <p:spPr>
          <a:xfrm>
            <a:off x="5342225" y="4789450"/>
            <a:ext cx="37041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le commentaire Reddit cite §6.7.6.3/7, qui n’existe pas dans le document que j’ai posté le document ISO et non le brouillon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2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C11</a:t>
            </a:r>
            <a:r>
              <a:rPr lang="en"/>
              <a:t> ET LES </a:t>
            </a:r>
            <a:r>
              <a:rPr lang="en">
                <a:solidFill>
                  <a:schemeClr val="dk2"/>
                </a:solidFill>
              </a:rPr>
              <a:t>VLA</a:t>
            </a:r>
            <a:endParaRPr/>
          </a:p>
        </p:txBody>
      </p:sp>
      <p:sp>
        <p:nvSpPr>
          <p:cNvPr id="1302" name="Google Shape;1302;p123"/>
          <p:cNvSpPr txBox="1"/>
          <p:nvPr/>
        </p:nvSpPr>
        <p:spPr>
          <a:xfrm>
            <a:off x="751225" y="1894975"/>
            <a:ext cx="33300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 VLA deviennent optionnels en C11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§6.7.6.2/4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§6.10.8.3 (__STDC_NO_VLA__)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3" name="Google Shape;1303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025" y="1708029"/>
            <a:ext cx="3590925" cy="1362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4" name="Google Shape;1304;p123"/>
          <p:cNvCxnSpPr/>
          <p:nvPr/>
        </p:nvCxnSpPr>
        <p:spPr>
          <a:xfrm>
            <a:off x="6323750" y="2817175"/>
            <a:ext cx="145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123"/>
          <p:cNvSpPr/>
          <p:nvPr/>
        </p:nvSpPr>
        <p:spPr>
          <a:xfrm>
            <a:off x="6732175" y="3027025"/>
            <a:ext cx="440400" cy="559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6" name="Google Shape;1306;p123"/>
          <p:cNvSpPr txBox="1"/>
          <p:nvPr/>
        </p:nvSpPr>
        <p:spPr>
          <a:xfrm>
            <a:off x="5151925" y="3600275"/>
            <a:ext cx="29643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Macro qui vaut 1 si les VLA ne sont pas supportés, sinon elle n’est pas définie.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123"/>
          <p:cNvSpPr txBox="1"/>
          <p:nvPr/>
        </p:nvSpPr>
        <p:spPr>
          <a:xfrm>
            <a:off x="775975" y="3145875"/>
            <a:ext cx="3383700" cy="1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 exemple, CompCert 3.12 (un autre compilateur C) ne supporte pas les VLA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il définit __STDC_NO_VLA__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il ne compile pas les VLA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8" name="Google Shape;1308;p123"/>
          <p:cNvSpPr txBox="1"/>
          <p:nvPr/>
        </p:nvSpPr>
        <p:spPr>
          <a:xfrm>
            <a:off x="10800" y="4806250"/>
            <a:ext cx="914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En C23, les VLA en paramètres de fonction sont à nouveau obligatoires, mais les VLA en temps que variables locales restent optionels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85" y="1561725"/>
            <a:ext cx="3764592" cy="28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2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PETIT </a:t>
            </a:r>
            <a:r>
              <a:rPr lang="en" sz="3400">
                <a:solidFill>
                  <a:schemeClr val="dk2"/>
                </a:solidFill>
              </a:rPr>
              <a:t>VLA</a:t>
            </a:r>
            <a:r>
              <a:rPr lang="en" sz="3400"/>
              <a:t> DANS LES </a:t>
            </a:r>
            <a:r>
              <a:rPr lang="en" sz="3400">
                <a:solidFill>
                  <a:schemeClr val="dk2"/>
                </a:solidFill>
              </a:rPr>
              <a:t>CROCHETS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15" name="Google Shape;1315;p124"/>
          <p:cNvSpPr/>
          <p:nvPr/>
        </p:nvSpPr>
        <p:spPr>
          <a:xfrm rot="-5400000">
            <a:off x="4054947" y="25488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6" name="Google Shape;1316;p124"/>
          <p:cNvSpPr txBox="1"/>
          <p:nvPr/>
        </p:nvSpPr>
        <p:spPr>
          <a:xfrm>
            <a:off x="5465775" y="2251700"/>
            <a:ext cx="33843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Dans une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déclaration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(prototype) de fonction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uniquement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 array[*] déclare un VLA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Alors que int array[] déclare un tableau standard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§6.7.5.2/4, §6.7.5.3/12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7" name="Google Shape;1317;p124"/>
          <p:cNvCxnSpPr/>
          <p:nvPr/>
        </p:nvCxnSpPr>
        <p:spPr>
          <a:xfrm>
            <a:off x="3009025" y="2236925"/>
            <a:ext cx="562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124"/>
          <p:cNvSpPr txBox="1"/>
          <p:nvPr/>
        </p:nvSpPr>
        <p:spPr>
          <a:xfrm>
            <a:off x="7294500" y="4464425"/>
            <a:ext cx="1849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Pour aller plus loin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2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PETIT </a:t>
            </a:r>
            <a:r>
              <a:rPr lang="en" sz="3400">
                <a:solidFill>
                  <a:schemeClr val="dk2"/>
                </a:solidFill>
              </a:rPr>
              <a:t>VLA</a:t>
            </a:r>
            <a:r>
              <a:rPr lang="en" sz="3400"/>
              <a:t> DANS LES </a:t>
            </a:r>
            <a:r>
              <a:rPr lang="en" sz="3400">
                <a:solidFill>
                  <a:schemeClr val="dk2"/>
                </a:solidFill>
              </a:rPr>
              <a:t>CROCHETS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24" name="Google Shape;1324;p125"/>
          <p:cNvSpPr/>
          <p:nvPr/>
        </p:nvSpPr>
        <p:spPr>
          <a:xfrm rot="-5400000">
            <a:off x="3747885" y="156791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5" name="Google Shape;132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325"/>
            <a:ext cx="3030475" cy="23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25"/>
          <p:cNvSpPr txBox="1"/>
          <p:nvPr/>
        </p:nvSpPr>
        <p:spPr>
          <a:xfrm>
            <a:off x="5346975" y="1704875"/>
            <a:ext cx="375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 compile pas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int arr[*] est dans une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définition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fonction, au lieu d’une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déclaration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7" name="Google Shape;1327;p125"/>
          <p:cNvSpPr/>
          <p:nvPr/>
        </p:nvSpPr>
        <p:spPr>
          <a:xfrm rot="-5400000">
            <a:off x="3898925" y="3692909"/>
            <a:ext cx="7320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8" name="Google Shape;1328;p125"/>
          <p:cNvSpPr txBox="1"/>
          <p:nvPr/>
        </p:nvSpPr>
        <p:spPr>
          <a:xfrm>
            <a:off x="5346975" y="3791225"/>
            <a:ext cx="375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 compile pas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int arr[*] est dans le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corps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d’une fonction, et non dans sa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déclaration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9" name="Google Shape;1329;p125"/>
          <p:cNvPicPr preferRelativeResize="0"/>
          <p:nvPr/>
        </p:nvPicPr>
        <p:blipFill rotWithShape="1">
          <a:blip r:embed="rId4">
            <a:alphaModFix/>
          </a:blip>
          <a:srcRect b="3466" l="0" r="0" t="0"/>
          <a:stretch/>
        </p:blipFill>
        <p:spPr>
          <a:xfrm>
            <a:off x="152400" y="3709850"/>
            <a:ext cx="2959375" cy="10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2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UN PETIT </a:t>
            </a:r>
            <a:r>
              <a:rPr lang="en" sz="3400">
                <a:solidFill>
                  <a:schemeClr val="dk2"/>
                </a:solidFill>
              </a:rPr>
              <a:t>VLA</a:t>
            </a:r>
            <a:r>
              <a:rPr lang="en" sz="3400"/>
              <a:t> DANS LES </a:t>
            </a:r>
            <a:r>
              <a:rPr lang="en" sz="3400">
                <a:solidFill>
                  <a:schemeClr val="dk2"/>
                </a:solidFill>
              </a:rPr>
              <a:t>CROCHETS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35" name="Google Shape;1335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75" y="1556712"/>
            <a:ext cx="3672125" cy="282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26"/>
          <p:cNvSpPr txBox="1"/>
          <p:nvPr/>
        </p:nvSpPr>
        <p:spPr>
          <a:xfrm>
            <a:off x="5635625" y="2062025"/>
            <a:ext cx="33843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nt[*] est compatible avec int[1]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à la fin ce sera un int*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(voir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“TABLEAU  OU POINTEUR ?”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7" name="Google Shape;1337;p126"/>
          <p:cNvSpPr/>
          <p:nvPr/>
        </p:nvSpPr>
        <p:spPr>
          <a:xfrm rot="-5400000">
            <a:off x="4054947" y="25488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AUTOUR DU </a:t>
            </a:r>
            <a:r>
              <a:rPr lang="en">
                <a:solidFill>
                  <a:schemeClr val="dk2"/>
                </a:solidFill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225" y="720625"/>
            <a:ext cx="3783774" cy="337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2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ENTRY</a:t>
            </a:r>
            <a:endParaRPr/>
          </a:p>
        </p:txBody>
      </p:sp>
      <p:sp>
        <p:nvSpPr>
          <p:cNvPr id="1349" name="Google Shape;1349;p128"/>
          <p:cNvSpPr txBox="1"/>
          <p:nvPr/>
        </p:nvSpPr>
        <p:spPr>
          <a:xfrm>
            <a:off x="4463675" y="4030275"/>
            <a:ext cx="46428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Une question que j'ai posée sur le StackExchange Retrocomputing à ce sujet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Une autre question sur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0" name="Google Shape;1350;p1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250" y="1175651"/>
            <a:ext cx="4461750" cy="285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28"/>
          <p:cNvSpPr txBox="1"/>
          <p:nvPr/>
        </p:nvSpPr>
        <p:spPr>
          <a:xfrm>
            <a:off x="0" y="4811875"/>
            <a:ext cx="1746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K&amp;R §A.2.3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28"/>
          <p:cNvSpPr/>
          <p:nvPr/>
        </p:nvSpPr>
        <p:spPr>
          <a:xfrm>
            <a:off x="2768025" y="3160550"/>
            <a:ext cx="378900" cy="14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3" name="Google Shape;1353;p128"/>
          <p:cNvSpPr/>
          <p:nvPr/>
        </p:nvSpPr>
        <p:spPr>
          <a:xfrm>
            <a:off x="179500" y="3685175"/>
            <a:ext cx="4284300" cy="14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4" name="Google Shape;1354;p128"/>
          <p:cNvCxnSpPr>
            <a:stCxn id="1353" idx="3"/>
            <a:endCxn id="1349" idx="1"/>
          </p:cNvCxnSpPr>
          <p:nvPr/>
        </p:nvCxnSpPr>
        <p:spPr>
          <a:xfrm>
            <a:off x="4463800" y="3759575"/>
            <a:ext cx="600" cy="639600"/>
          </a:xfrm>
          <a:prstGeom prst="curvedConnector5">
            <a:avLst>
              <a:gd fmla="val 39687500" name="adj1"/>
              <a:gd fmla="val 26978" name="adj2"/>
              <a:gd fmla="val -39708333" name="adj3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128"/>
          <p:cNvSpPr txBox="1"/>
          <p:nvPr/>
        </p:nvSpPr>
        <p:spPr>
          <a:xfrm>
            <a:off x="7715250" y="2405600"/>
            <a:ext cx="13911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En FORTRAN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28"/>
          <p:cNvSpPr/>
          <p:nvPr/>
        </p:nvSpPr>
        <p:spPr>
          <a:xfrm>
            <a:off x="6208900" y="2907875"/>
            <a:ext cx="841800" cy="20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2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#PRAGMA </a:t>
            </a:r>
            <a:r>
              <a:rPr lang="en"/>
              <a:t>ET GCC</a:t>
            </a:r>
            <a:endParaRPr/>
          </a:p>
        </p:txBody>
      </p:sp>
      <p:pic>
        <p:nvPicPr>
          <p:cNvPr id="1362" name="Google Shape;1362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75" y="1138325"/>
            <a:ext cx="5024249" cy="36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29"/>
          <p:cNvSpPr txBox="1"/>
          <p:nvPr/>
        </p:nvSpPr>
        <p:spPr>
          <a:xfrm>
            <a:off x="115050" y="4811875"/>
            <a:ext cx="521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 1.21 (copyright 1986-1987), fichier cccp.c ligne 2985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129"/>
          <p:cNvSpPr txBox="1"/>
          <p:nvPr/>
        </p:nvSpPr>
        <p:spPr>
          <a:xfrm>
            <a:off x="5772900" y="4452775"/>
            <a:ext cx="1976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Pour en savoir plus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5" name="Google Shape;1365;p129"/>
          <p:cNvSpPr txBox="1"/>
          <p:nvPr/>
        </p:nvSpPr>
        <p:spPr>
          <a:xfrm>
            <a:off x="5772900" y="4798350"/>
            <a:ext cx="33297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Code Source de GCC 1.21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6" name="Google Shape;1366;p129"/>
          <p:cNvSpPr txBox="1"/>
          <p:nvPr/>
        </p:nvSpPr>
        <p:spPr>
          <a:xfrm>
            <a:off x="5411300" y="1336475"/>
            <a:ext cx="33297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#pragma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n’est pas standard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 un 1er jeu (nethack)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 un 2e jeu (rogue)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Lance un 3e jeu (hanoi)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Affiche un message d’erreur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29"/>
          <p:cNvSpPr/>
          <p:nvPr/>
        </p:nvSpPr>
        <p:spPr>
          <a:xfrm>
            <a:off x="93900" y="1163075"/>
            <a:ext cx="483900" cy="17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129"/>
          <p:cNvSpPr txBox="1"/>
          <p:nvPr/>
        </p:nvSpPr>
        <p:spPr>
          <a:xfrm>
            <a:off x="924675" y="584025"/>
            <a:ext cx="1502700" cy="53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Retiré depuis longtemps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9" name="Google Shape;1369;p129"/>
          <p:cNvCxnSpPr>
            <a:stCxn id="1367" idx="0"/>
            <a:endCxn id="1368" idx="1"/>
          </p:cNvCxnSpPr>
          <p:nvPr/>
        </p:nvCxnSpPr>
        <p:spPr>
          <a:xfrm rot="-5400000">
            <a:off x="473850" y="712175"/>
            <a:ext cx="312900" cy="588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0" name="Google Shape;1370;p129"/>
          <p:cNvSpPr txBox="1"/>
          <p:nvPr/>
        </p:nvSpPr>
        <p:spPr>
          <a:xfrm>
            <a:off x="5493900" y="3489100"/>
            <a:ext cx="25341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#pragma (C89 §6.8.6, C99 §6.10.6) et _Pragma (introduit en C99, §6.10.9) sont standards, mais leurs arguments non (sauf quelques exceptions)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3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IOCCC</a:t>
            </a:r>
            <a:endParaRPr/>
          </a:p>
        </p:txBody>
      </p:sp>
      <p:pic>
        <p:nvPicPr>
          <p:cNvPr id="1376" name="Google Shape;137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9750"/>
            <a:ext cx="3708725" cy="47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468" y="1073925"/>
            <a:ext cx="3503857" cy="3714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30"/>
          <p:cNvSpPr txBox="1"/>
          <p:nvPr/>
        </p:nvSpPr>
        <p:spPr>
          <a:xfrm>
            <a:off x="8018650" y="4811200"/>
            <a:ext cx="931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Source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9" name="Google Shape;1379;p130"/>
          <p:cNvSpPr txBox="1"/>
          <p:nvPr/>
        </p:nvSpPr>
        <p:spPr>
          <a:xfrm>
            <a:off x="3994875" y="4811200"/>
            <a:ext cx="3171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Site officiel de l’IOCCC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GitHub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099" y="1179277"/>
            <a:ext cx="3897375" cy="356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3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DES GOTO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DANS UN TABLEAU ?</a:t>
            </a:r>
            <a:endParaRPr/>
          </a:p>
        </p:txBody>
      </p:sp>
      <p:sp>
        <p:nvSpPr>
          <p:cNvPr id="1386" name="Google Shape;1386;p131"/>
          <p:cNvSpPr txBox="1"/>
          <p:nvPr/>
        </p:nvSpPr>
        <p:spPr>
          <a:xfrm>
            <a:off x="6254400" y="3857625"/>
            <a:ext cx="28896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Pour aller plus loin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Un exemple de “tokenizer”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Un exemple de coroutines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Documentation de 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7" name="Google Shape;1387;p131"/>
          <p:cNvSpPr txBox="1"/>
          <p:nvPr/>
        </p:nvSpPr>
        <p:spPr>
          <a:xfrm>
            <a:off x="5772000" y="1683200"/>
            <a:ext cx="29547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Extension de compilateur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non standard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Supporté par au moins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131"/>
          <p:cNvSpPr txBox="1"/>
          <p:nvPr/>
        </p:nvSpPr>
        <p:spPr>
          <a:xfrm>
            <a:off x="3235500" y="2888950"/>
            <a:ext cx="26730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Évite un appel de fonction.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Utilisé surtout pour les interpréteurs et VM (lecture et exécution du bytecode).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3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</a:t>
            </a:r>
            <a:r>
              <a:rPr lang="en">
                <a:solidFill>
                  <a:schemeClr val="dk2"/>
                </a:solidFill>
              </a:rPr>
              <a:t> SWITCH </a:t>
            </a:r>
            <a:r>
              <a:rPr lang="en"/>
              <a:t>…</a:t>
            </a:r>
            <a:r>
              <a:rPr lang="en"/>
              <a:t> ?</a:t>
            </a:r>
            <a:endParaRPr/>
          </a:p>
        </p:txBody>
      </p:sp>
      <p:pic>
        <p:nvPicPr>
          <p:cNvPr id="1394" name="Google Shape;1394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175" y="1045016"/>
            <a:ext cx="4137381" cy="3764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2"/>
          <p:cNvSpPr txBox="1"/>
          <p:nvPr/>
        </p:nvSpPr>
        <p:spPr>
          <a:xfrm>
            <a:off x="5772000" y="1683200"/>
            <a:ext cx="29547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Extension de compilateur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non standard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Supporté par au moins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6" name="Google Shape;1396;p132"/>
          <p:cNvSpPr txBox="1"/>
          <p:nvPr/>
        </p:nvSpPr>
        <p:spPr>
          <a:xfrm>
            <a:off x="6364350" y="4362200"/>
            <a:ext cx="231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Documentation de 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3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MULTIPLIER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LES</a:t>
            </a:r>
            <a:r>
              <a:rPr lang="en"/>
              <a:t> DÉGÂTS - </a:t>
            </a:r>
            <a:r>
              <a:rPr lang="en">
                <a:solidFill>
                  <a:schemeClr val="dk2"/>
                </a:solidFill>
              </a:rPr>
              <a:t>IF/ELSE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02" name="Google Shape;1402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038" y="2373425"/>
            <a:ext cx="4885925" cy="2365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3" name="Google Shape;1403;p133"/>
          <p:cNvGraphicFramePr/>
          <p:nvPr/>
        </p:nvGraphicFramePr>
        <p:xfrm>
          <a:off x="2210675" y="147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349750"/>
                <a:gridCol w="688750"/>
                <a:gridCol w="755825"/>
                <a:gridCol w="837400"/>
                <a:gridCol w="1090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Niveau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 ⇒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 ⇒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 ⇒ 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 ⇒ 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Multiplicateur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350" y="2755175"/>
            <a:ext cx="50673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3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MULTIPLIER </a:t>
            </a:r>
            <a:r>
              <a:rPr lang="en"/>
              <a:t>LES DÉGÂTS - </a:t>
            </a:r>
            <a:r>
              <a:rPr lang="en">
                <a:solidFill>
                  <a:schemeClr val="dk2"/>
                </a:solidFill>
              </a:rPr>
              <a:t>SWITCH…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410" name="Google Shape;1410;p134"/>
          <p:cNvGraphicFramePr/>
          <p:nvPr/>
        </p:nvGraphicFramePr>
        <p:xfrm>
          <a:off x="2210675" y="147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{20192BDC-307B-4A6C-AE54-A6D87EC0B91F}</a:tableStyleId>
              </a:tblPr>
              <a:tblGrid>
                <a:gridCol w="1349750"/>
                <a:gridCol w="688750"/>
                <a:gridCol w="755825"/>
                <a:gridCol w="837400"/>
                <a:gridCol w="1090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Niveau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 ⇒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 ⇒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 ⇒ 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 ⇒ 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Multiplicateur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35"/>
          <p:cNvSpPr txBox="1"/>
          <p:nvPr>
            <p:ph type="title"/>
          </p:nvPr>
        </p:nvSpPr>
        <p:spPr>
          <a:xfrm>
            <a:off x="334575" y="626325"/>
            <a:ext cx="8255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MULTIPLIER </a:t>
            </a:r>
            <a:r>
              <a:rPr lang="en"/>
              <a:t>LES DÉGÂTS - </a:t>
            </a:r>
            <a:r>
              <a:rPr lang="en">
                <a:solidFill>
                  <a:schemeClr val="dk2"/>
                </a:solidFill>
              </a:rPr>
              <a:t>TABLEAU…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16" name="Google Shape;1416;p135"/>
          <p:cNvSpPr txBox="1"/>
          <p:nvPr/>
        </p:nvSpPr>
        <p:spPr>
          <a:xfrm>
            <a:off x="5772000" y="1683200"/>
            <a:ext cx="29547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Extension de compilateur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non standard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Supporté par au moins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7" name="Google Shape;1417;p135"/>
          <p:cNvSpPr txBox="1"/>
          <p:nvPr/>
        </p:nvSpPr>
        <p:spPr>
          <a:xfrm>
            <a:off x="6364350" y="4362200"/>
            <a:ext cx="231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Documentation de 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8" name="Google Shape;1418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525" y="1746466"/>
            <a:ext cx="539115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36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RESSOURCES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37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RESSOURCES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29" name="Google Shape;1429;p137"/>
          <p:cNvSpPr txBox="1"/>
          <p:nvPr/>
        </p:nvSpPr>
        <p:spPr>
          <a:xfrm>
            <a:off x="736900" y="514425"/>
            <a:ext cx="7867200" cy="4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Normes 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K&amp;R 1978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Norme C89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Révision C95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Norme C99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+ Rationale du C99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Norme C11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Norme C17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Norme C23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un historique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 modifications depuis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C89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voir annexe M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Tous les documents ci-dessus sont disponibles sur le dépôt GitHub de la présentation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Autres ressources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Un excellent cours sur le C en français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Code de l’animation d’argv (pastebin)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(fait avec </a:t>
            </a:r>
            <a:r>
              <a:rPr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ManimGL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Un site non-officiel du C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5"/>
              </a:rPr>
              <a:t>Sibling Rivalry : C and C++ → Histoire du C89, C99 et C++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6"/>
              </a:rPr>
              <a:t>Histoire du C (cppreference)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7"/>
              </a:rPr>
              <a:t>Compilateur en ligne (Compiler Explorer)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Histoire du C détaillée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// </a:t>
            </a: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Histoire du C (autres infos)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Pourquoi les index des tableaux commencent à 0 et non 1 ?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: Appelée aussi AMD1 (pour amendement), ce n’est pas une norme, la révision est intégrée dans C99.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0" name="Google Shape;1430;p137"/>
          <p:cNvSpPr txBox="1"/>
          <p:nvPr/>
        </p:nvSpPr>
        <p:spPr>
          <a:xfrm>
            <a:off x="4492550" y="962025"/>
            <a:ext cx="42504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IMPORTANT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shall =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 c’est pas respecté alors comportement indéfini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§3, §3.16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§4/1, §4/2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38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CITER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LA </a:t>
            </a:r>
            <a:r>
              <a:rPr lang="en"/>
              <a:t>NORME - </a:t>
            </a:r>
            <a:r>
              <a:rPr lang="en">
                <a:solidFill>
                  <a:schemeClr val="dk2"/>
                </a:solidFill>
              </a:rPr>
              <a:t>NOTATIONS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36" name="Google Shape;1436;p138"/>
          <p:cNvPicPr preferRelativeResize="0"/>
          <p:nvPr/>
        </p:nvPicPr>
        <p:blipFill rotWithShape="1">
          <a:blip r:embed="rId3">
            <a:alphaModFix/>
          </a:blip>
          <a:srcRect b="35687" l="0" r="0" t="0"/>
          <a:stretch/>
        </p:blipFill>
        <p:spPr>
          <a:xfrm>
            <a:off x="167875" y="1529422"/>
            <a:ext cx="5391100" cy="24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138"/>
          <p:cNvSpPr/>
          <p:nvPr/>
        </p:nvSpPr>
        <p:spPr>
          <a:xfrm>
            <a:off x="2370675" y="1631025"/>
            <a:ext cx="3492300" cy="27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8" name="Google Shape;1438;p138"/>
          <p:cNvSpPr txBox="1"/>
          <p:nvPr/>
        </p:nvSpPr>
        <p:spPr>
          <a:xfrm>
            <a:off x="6228300" y="1576875"/>
            <a:ext cx="2470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6.6, on note §6.6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p138"/>
          <p:cNvSpPr txBox="1"/>
          <p:nvPr/>
        </p:nvSpPr>
        <p:spPr>
          <a:xfrm>
            <a:off x="605700" y="1285725"/>
            <a:ext cx="1455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Extrait du C99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138"/>
          <p:cNvSpPr/>
          <p:nvPr/>
        </p:nvSpPr>
        <p:spPr>
          <a:xfrm>
            <a:off x="191450" y="2531125"/>
            <a:ext cx="5251800" cy="575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1" name="Google Shape;1441;p138"/>
          <p:cNvSpPr/>
          <p:nvPr/>
        </p:nvSpPr>
        <p:spPr>
          <a:xfrm>
            <a:off x="5666575" y="2531125"/>
            <a:ext cx="666300" cy="49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2" name="Google Shape;1442;p138"/>
          <p:cNvSpPr txBox="1"/>
          <p:nvPr/>
        </p:nvSpPr>
        <p:spPr>
          <a:xfrm>
            <a:off x="6451575" y="2524375"/>
            <a:ext cx="2524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 n°2 de la section 6.6, on note §6.6/2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39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SECTIONS DE</a:t>
            </a:r>
            <a:r>
              <a:rPr lang="en">
                <a:solidFill>
                  <a:schemeClr val="accent1"/>
                </a:solidFill>
              </a:rPr>
              <a:t> LA </a:t>
            </a:r>
            <a:r>
              <a:rPr lang="en"/>
              <a:t>NORME C99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8" name="Google Shape;1448;p139"/>
          <p:cNvSpPr txBox="1"/>
          <p:nvPr/>
        </p:nvSpPr>
        <p:spPr>
          <a:xfrm>
            <a:off x="596975" y="1293300"/>
            <a:ext cx="8456100" cy="3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“Foreword” : informations diverses liées à l’ISO + changements depuis la dernière norme (ici C89)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Introduction : Pourquoi le document existe ? Qu’est-ce qu’il contient (vaguement)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1 “Scope” : Quels aspects d’un programme C sont évoqués ou non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2 “Normative references” : liens vers d’autres normes ISO pertinentes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3 “Terms, definitions, and symbols” : du vocabulaire important (argument, bit…)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4 “Conformance” : Critères généraux que les implémentations doivent respecter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5 “Environment” : Contraintes externes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Comment un fichier C est traité par le compilateur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Comment est exécuté un programme C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Exécute-t-on un programme C sur un OS (“hosted”) ou non (“freestanding”)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6 “Language” : La syntaxe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7 “Library” : La bibliothèque standard, ses en-têtes (“headers”), types et fonctions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Annexes variées…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40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ANNEXES</a:t>
            </a:r>
            <a:r>
              <a:rPr lang="en">
                <a:solidFill>
                  <a:schemeClr val="accent1"/>
                </a:solidFill>
              </a:rPr>
              <a:t> DE LA </a:t>
            </a:r>
            <a:r>
              <a:rPr lang="en"/>
              <a:t>NORME C99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54" name="Google Shape;1454;p140"/>
          <p:cNvSpPr txBox="1"/>
          <p:nvPr/>
        </p:nvSpPr>
        <p:spPr>
          <a:xfrm>
            <a:off x="307600" y="1293300"/>
            <a:ext cx="8745600" cy="30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A “Language syntax summary” : Liste de tous les types de “tokens” d’un code C (mots-clés, chiffres, opérateurs, chaînes de caractères…)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B “Library summary” : Macros &amp; prototypes de fonctions listés par en-tête (header)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C “Sequence points” : Endroits du code où tous les effets de bord (“side effects”) doivent être résolus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Exemple → i++ introduit un effet de bord, on doit évaluer i puis l’incrémenter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”Sequence Points” sur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D “Universal character names for identifiers” : Caractères Unicode autorisés dans des identificateurs (“identifiers”), c’est-à-dire noms de variables, fonctions, macros…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E “Implementation limits” : Valeurs minimum des macros de limits.h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F “IEC 60559 floating-point arithmetic” : Description du comportement des nombres flottants du C par rapport au standard IEC 60559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G “IEC 60559-compatible complex arithmetic” : Comme l’annexe F, mais pour les nombres complexes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41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ANNEXES DE LA </a:t>
            </a:r>
            <a:r>
              <a:rPr lang="en"/>
              <a:t>NORME C99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60" name="Google Shape;1460;p141"/>
          <p:cNvSpPr txBox="1"/>
          <p:nvPr/>
        </p:nvSpPr>
        <p:spPr>
          <a:xfrm>
            <a:off x="307600" y="1102825"/>
            <a:ext cx="8745600" cy="3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H “Language independent arithmetic” : Description des opérations arithmétiques disponibles en C par rapport au standard ISO/IEC 10967−1 (standard qui liste des opérations mathématiques ainsi que leur domaine de définition)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I “Common warnings” : </a:t>
            </a:r>
            <a:r>
              <a:rPr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Suggestions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d’avertissements (“warnings”) pour les compilateurs → simplement des </a:t>
            </a:r>
            <a:r>
              <a:rPr b="1"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suggestions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et peuvent totalement être ignorées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Annexe J “Portability issues” : Liste des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comportements (définis à C99 §3.4)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 spécifiés (</a:t>
            </a:r>
            <a:r>
              <a:rPr i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unspecified behavior)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la norme propose plusieurs options et laisse le choix à l’implémentation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Indéfini (</a:t>
            </a:r>
            <a:r>
              <a:rPr i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undefined behavior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→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norme ne dit pas ce qu’il doit se passer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Dépendant de l’implémentation (</a:t>
            </a:r>
            <a:r>
              <a:rPr i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implementation-defined behavior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comportement non spécifié, l’implémentation doit documenter son choix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Dépendant de la locale (</a:t>
            </a:r>
            <a:r>
              <a:rPr i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locale-specific behavior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Extensions courantes des compilateurs/environnements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3e argument dans main pour les variables d’environnement → int main(int argc, char* argv[], char* env[])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Mot-clef “asm” pour insérer des instructions en langage d’assemblage dans du C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1" name="Google Shape;1461;p141"/>
          <p:cNvSpPr txBox="1"/>
          <p:nvPr/>
        </p:nvSpPr>
        <p:spPr>
          <a:xfrm>
            <a:off x="319625" y="4529875"/>
            <a:ext cx="31761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Pour aller plus loin à propos des comportements indéfinis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42"/>
          <p:cNvSpPr txBox="1"/>
          <p:nvPr/>
        </p:nvSpPr>
        <p:spPr>
          <a:xfrm>
            <a:off x="426450" y="692100"/>
            <a:ext cx="19296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rPr>
              <a:t>MERCI</a:t>
            </a:r>
            <a:r>
              <a:rPr b="1" lang="en" sz="3500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rPr>
              <a:t> </a:t>
            </a:r>
            <a:r>
              <a:rPr b="1" lang="en" sz="35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rPr>
              <a:t>!</a:t>
            </a:r>
            <a:endParaRPr b="1" sz="3500">
              <a:solidFill>
                <a:schemeClr val="dk2"/>
              </a:solidFill>
              <a:latin typeface="Sarala"/>
              <a:ea typeface="Sarala"/>
              <a:cs typeface="Sarala"/>
              <a:sym typeface="Sarala"/>
            </a:endParaRPr>
          </a:p>
        </p:txBody>
      </p:sp>
      <p:sp>
        <p:nvSpPr>
          <p:cNvPr id="1467" name="Google Shape;1467;p142"/>
          <p:cNvSpPr/>
          <p:nvPr/>
        </p:nvSpPr>
        <p:spPr>
          <a:xfrm rot="-5400000">
            <a:off x="3153750" y="1660785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8" name="Google Shape;1468;p142"/>
          <p:cNvSpPr txBox="1"/>
          <p:nvPr/>
        </p:nvSpPr>
        <p:spPr>
          <a:xfrm>
            <a:off x="426450" y="1639925"/>
            <a:ext cx="2525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GitHub de la présentation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9" name="Google Shape;1469;p142"/>
          <p:cNvPicPr preferRelativeResize="0"/>
          <p:nvPr/>
        </p:nvPicPr>
        <p:blipFill rotWithShape="1">
          <a:blip r:embed="rId3">
            <a:alphaModFix/>
          </a:blip>
          <a:srcRect b="7015" l="6685" r="6952" t="6375"/>
          <a:stretch/>
        </p:blipFill>
        <p:spPr>
          <a:xfrm>
            <a:off x="4108925" y="114100"/>
            <a:ext cx="4162925" cy="41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42"/>
          <p:cNvSpPr txBox="1"/>
          <p:nvPr/>
        </p:nvSpPr>
        <p:spPr>
          <a:xfrm>
            <a:off x="427075" y="2954125"/>
            <a:ext cx="34899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Merci au subreddit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r/C_Programming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la relecture.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inal Project Proposal by Slidesgo">
  <a:themeElements>
    <a:clrScheme name="Simple Light">
      <a:dk1>
        <a:srgbClr val="000000"/>
      </a:dk1>
      <a:lt1>
        <a:srgbClr val="FFFFFF"/>
      </a:lt1>
      <a:dk2>
        <a:srgbClr val="FF725E"/>
      </a:dk2>
      <a:lt2>
        <a:srgbClr val="000000"/>
      </a:lt2>
      <a:accent1>
        <a:srgbClr val="FF725E"/>
      </a:accent1>
      <a:accent2>
        <a:srgbClr val="FF725E"/>
      </a:accent2>
      <a:accent3>
        <a:srgbClr val="F6B1A7"/>
      </a:accent3>
      <a:accent4>
        <a:srgbClr val="F6B1A7"/>
      </a:accent4>
      <a:accent5>
        <a:srgbClr val="FF725E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